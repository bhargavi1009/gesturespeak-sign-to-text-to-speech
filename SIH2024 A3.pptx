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3"/>
  </p:notesMasterIdLst>
  <p:sldIdLst>
    <p:sldId id="256" r:id="rId2"/>
  </p:sldIdLst>
  <p:sldSz cx="43891200" cy="21945600"/>
  <p:notesSz cx="7004050" cy="9283700"/>
  <p:embeddedFontLst>
    <p:embeddedFont>
      <p:font typeface="Roboto" panose="02000000000000000000" pitchFamily="2" charset="0"/>
      <p:regular r:id="rId4"/>
      <p:bold r:id="rId5"/>
      <p:italic r:id="rId6"/>
      <p:boldItalic r:id="rId7"/>
    </p:embeddedFont>
    <p:embeddedFont>
      <p:font typeface="Times" panose="02020603050405020304" pitchFamily="18"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5F357A-BC5D-4FC2-A2A2-E60D72A69110}" v="28" dt="2024-09-05T19:04:03.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25" d="100"/>
          <a:sy n="25" d="100"/>
        </p:scale>
        <p:origin x="370" y="48"/>
      </p:cViewPr>
      <p:guideLst>
        <p:guide orient="horz" pos="6912"/>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67575" y="696275"/>
            <a:ext cx="4669600" cy="34813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0400" y="4409750"/>
            <a:ext cx="5603225" cy="41776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txBox="1">
            <a:spLocks noGrp="1"/>
          </p:cNvSpPr>
          <p:nvPr>
            <p:ph type="body" idx="1"/>
          </p:nvPr>
        </p:nvSpPr>
        <p:spPr>
          <a:xfrm>
            <a:off x="700400" y="4409750"/>
            <a:ext cx="5603225" cy="41776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 name="Google Shape;19;p1:notes"/>
          <p:cNvSpPr>
            <a:spLocks noGrp="1" noRot="1" noChangeAspect="1"/>
          </p:cNvSpPr>
          <p:nvPr>
            <p:ph type="sldImg" idx="2"/>
          </p:nvPr>
        </p:nvSpPr>
        <p:spPr>
          <a:xfrm>
            <a:off x="20638" y="696913"/>
            <a:ext cx="6962775" cy="3481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
        <p:cNvGrpSpPr/>
        <p:nvPr/>
      </p:nvGrpSpPr>
      <p:grpSpPr>
        <a:xfrm>
          <a:off x="0" y="0"/>
          <a:ext cx="0" cy="0"/>
          <a:chOff x="0" y="0"/>
          <a:chExt cx="0" cy="0"/>
        </a:xfrm>
      </p:grpSpPr>
      <p:sp>
        <p:nvSpPr>
          <p:cNvPr id="13" name="Google Shape;13;p2"/>
          <p:cNvSpPr/>
          <p:nvPr/>
        </p:nvSpPr>
        <p:spPr>
          <a:xfrm>
            <a:off x="-7498080" y="0"/>
            <a:ext cx="6949440" cy="21945600"/>
          </a:xfrm>
          <a:prstGeom prst="rect">
            <a:avLst/>
          </a:prstGeom>
          <a:solidFill>
            <a:srgbClr val="D8D8D8"/>
          </a:solidFill>
          <a:ln>
            <a:noFill/>
          </a:ln>
        </p:spPr>
        <p:txBody>
          <a:bodyPr spcFirstLastPara="1" wrap="square" lIns="146875" tIns="146875" rIns="146875" bIns="146875" anchor="t" anchorCtr="0">
            <a:noAutofit/>
          </a:bodyPr>
          <a:lstStyle/>
          <a:p>
            <a:pPr marL="0" marR="0" lvl="0" indent="0" algn="l" rtl="0">
              <a:spcBef>
                <a:spcPts val="0"/>
              </a:spcBef>
              <a:spcAft>
                <a:spcPts val="0"/>
              </a:spcAft>
              <a:buNone/>
            </a:pPr>
            <a:r>
              <a:rPr lang="en-US" sz="5400">
                <a:solidFill>
                  <a:srgbClr val="7F7F7F"/>
                </a:solidFill>
                <a:latin typeface="Calibri"/>
                <a:ea typeface="Calibri"/>
                <a:cs typeface="Calibri"/>
                <a:sym typeface="Calibri"/>
              </a:rPr>
              <a:t>Poster Print Size:</a:t>
            </a:r>
            <a:endParaRPr sz="5400">
              <a:solidFill>
                <a:srgbClr val="7F7F7F"/>
              </a:solidFill>
              <a:latin typeface="Calibri"/>
              <a:ea typeface="Calibri"/>
              <a:cs typeface="Calibri"/>
              <a:sym typeface="Calibri"/>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This poster template is 24” high by 48” wide . It can be used to print any poster with a 1:2 aspect ratio including 30x60, 36x72, 42x84, and 48x96. </a:t>
            </a:r>
            <a:endParaRPr/>
          </a:p>
          <a:p>
            <a:pPr marL="0" marR="0" lvl="0" indent="0" algn="l" rtl="0">
              <a:spcBef>
                <a:spcPts val="1544"/>
              </a:spcBef>
              <a:spcAft>
                <a:spcPts val="0"/>
              </a:spcAft>
              <a:buNone/>
            </a:pPr>
            <a:r>
              <a:rPr lang="en-US" sz="5400">
                <a:solidFill>
                  <a:srgbClr val="7F7F7F"/>
                </a:solidFill>
                <a:latin typeface="Calibri"/>
                <a:ea typeface="Calibri"/>
                <a:cs typeface="Calibri"/>
                <a:sym typeface="Calibri"/>
              </a:rPr>
              <a:t>Placeholders:</a:t>
            </a:r>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marL="0" marR="0" lvl="0" indent="0" algn="l" rtl="0">
              <a:spcBef>
                <a:spcPts val="1544"/>
              </a:spcBef>
              <a:spcAft>
                <a:spcPts val="0"/>
              </a:spcAft>
              <a:buNone/>
            </a:pPr>
            <a:r>
              <a:rPr lang="en-US" sz="5400">
                <a:solidFill>
                  <a:srgbClr val="7F7F7F"/>
                </a:solidFill>
                <a:latin typeface="Calibri"/>
                <a:ea typeface="Calibri"/>
                <a:cs typeface="Calibri"/>
                <a:sym typeface="Calibri"/>
              </a:rPr>
              <a:t>Image Quality:</a:t>
            </a:r>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You can place digital photos or logo art in your poster file by selecting the </a:t>
            </a:r>
            <a:r>
              <a:rPr lang="en-US" sz="3200" b="1">
                <a:solidFill>
                  <a:srgbClr val="7F7F7F"/>
                </a:solidFill>
                <a:latin typeface="Calibri"/>
                <a:ea typeface="Calibri"/>
                <a:cs typeface="Calibri"/>
                <a:sym typeface="Calibri"/>
              </a:rPr>
              <a:t>Insert, Picture</a:t>
            </a:r>
            <a:r>
              <a:rPr lang="en-US" sz="3200">
                <a:solidFill>
                  <a:srgbClr val="7F7F7F"/>
                </a:solidFill>
                <a:latin typeface="Calibri"/>
                <a:ea typeface="Calibri"/>
                <a:cs typeface="Calibri"/>
                <a:sym typeface="Calibri"/>
              </a:rPr>
              <a:t> command, or by using standard copy &amp; paste. For best results, all graphic elements should be at least </a:t>
            </a:r>
            <a:r>
              <a:rPr lang="en-US" sz="3200" b="1">
                <a:solidFill>
                  <a:srgbClr val="7F7F7F"/>
                </a:solidFill>
                <a:latin typeface="Calibri"/>
                <a:ea typeface="Calibri"/>
                <a:cs typeface="Calibri"/>
                <a:sym typeface="Calibri"/>
              </a:rPr>
              <a:t>150-200 pixels per inch in their final printed size</a:t>
            </a:r>
            <a:r>
              <a:rPr lang="en-US" sz="3200">
                <a:solidFill>
                  <a:srgbClr val="7F7F7F"/>
                </a:solidFill>
                <a:latin typeface="Calibri"/>
                <a:ea typeface="Calibri"/>
                <a:cs typeface="Calibri"/>
                <a:sym typeface="Calibri"/>
              </a:rPr>
              <a:t>. For instance, a 1600 x 1200 pixel photo will usually look fine up to 8“-10” wide on your printed poster.</a:t>
            </a:r>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Please note that graphics from websites (such as the logo on your hospital's or university's home page) will only be 72 dpi and not suitable for printing.</a:t>
            </a:r>
            <a:endParaRPr/>
          </a:p>
          <a:p>
            <a:pPr marL="0" marR="0" lvl="0" indent="0" algn="ctr" rtl="0">
              <a:spcBef>
                <a:spcPts val="1544"/>
              </a:spcBef>
              <a:spcAft>
                <a:spcPts val="0"/>
              </a:spcAft>
              <a:buNone/>
            </a:pPr>
            <a:br>
              <a:rPr lang="en-US" sz="2800">
                <a:solidFill>
                  <a:srgbClr val="7F7F7F"/>
                </a:solidFill>
                <a:latin typeface="Calibri"/>
                <a:ea typeface="Calibri"/>
                <a:cs typeface="Calibri"/>
                <a:sym typeface="Calibri"/>
              </a:rPr>
            </a:br>
            <a:r>
              <a:rPr lang="en-US" sz="2800">
                <a:solidFill>
                  <a:srgbClr val="7F7F7F"/>
                </a:solidFill>
                <a:latin typeface="Calibri"/>
                <a:ea typeface="Calibri"/>
                <a:cs typeface="Calibri"/>
                <a:sym typeface="Calibri"/>
              </a:rPr>
              <a:t>[This sidebar area does not print.]</a:t>
            </a:r>
            <a:endParaRPr/>
          </a:p>
        </p:txBody>
      </p:sp>
      <p:grpSp>
        <p:nvGrpSpPr>
          <p:cNvPr id="14" name="Google Shape;14;p2"/>
          <p:cNvGrpSpPr/>
          <p:nvPr/>
        </p:nvGrpSpPr>
        <p:grpSpPr>
          <a:xfrm>
            <a:off x="44439840" y="0"/>
            <a:ext cx="6949440" cy="21945600"/>
            <a:chOff x="33832800" y="0"/>
            <a:chExt cx="12801600" cy="43891200"/>
          </a:xfrm>
        </p:grpSpPr>
        <p:sp>
          <p:nvSpPr>
            <p:cNvPr id="15" name="Google Shape;15;p2"/>
            <p:cNvSpPr/>
            <p:nvPr/>
          </p:nvSpPr>
          <p:spPr>
            <a:xfrm>
              <a:off x="33832800" y="0"/>
              <a:ext cx="12801600" cy="43891200"/>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spcBef>
                  <a:spcPts val="0"/>
                </a:spcBef>
                <a:spcAft>
                  <a:spcPts val="0"/>
                </a:spcAft>
                <a:buNone/>
              </a:pPr>
              <a:r>
                <a:rPr lang="en-US" sz="5400">
                  <a:solidFill>
                    <a:srgbClr val="7F7F7F"/>
                  </a:solidFill>
                  <a:latin typeface="Calibri"/>
                  <a:ea typeface="Calibri"/>
                  <a:cs typeface="Calibri"/>
                  <a:sym typeface="Calibri"/>
                </a:rPr>
                <a:t>Change Color Theme:</a:t>
              </a:r>
              <a:endParaRPr sz="5400">
                <a:solidFill>
                  <a:srgbClr val="7F7F7F"/>
                </a:solidFill>
                <a:latin typeface="Calibri"/>
                <a:ea typeface="Calibri"/>
                <a:cs typeface="Calibri"/>
                <a:sym typeface="Calibri"/>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This template is designed to use the built-in color themes in the newer versions of PowerPoint.</a:t>
              </a:r>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To change the color theme, select the </a:t>
              </a:r>
              <a:r>
                <a:rPr lang="en-US" sz="3200" b="1">
                  <a:solidFill>
                    <a:srgbClr val="7F7F7F"/>
                  </a:solidFill>
                  <a:latin typeface="Calibri"/>
                  <a:ea typeface="Calibri"/>
                  <a:cs typeface="Calibri"/>
                  <a:sym typeface="Calibri"/>
                </a:rPr>
                <a:t>Design</a:t>
              </a:r>
              <a:r>
                <a:rPr lang="en-US" sz="3200">
                  <a:solidFill>
                    <a:srgbClr val="7F7F7F"/>
                  </a:solidFill>
                  <a:latin typeface="Calibri"/>
                  <a:ea typeface="Calibri"/>
                  <a:cs typeface="Calibri"/>
                  <a:sym typeface="Calibri"/>
                </a:rPr>
                <a:t> tab, then select the </a:t>
              </a:r>
              <a:r>
                <a:rPr lang="en-US" sz="3200" b="1">
                  <a:solidFill>
                    <a:srgbClr val="7F7F7F"/>
                  </a:solidFill>
                  <a:latin typeface="Calibri"/>
                  <a:ea typeface="Calibri"/>
                  <a:cs typeface="Calibri"/>
                  <a:sym typeface="Calibri"/>
                </a:rPr>
                <a:t>Colors</a:t>
              </a:r>
              <a:r>
                <a:rPr lang="en-US" sz="3200">
                  <a:solidFill>
                    <a:srgbClr val="7F7F7F"/>
                  </a:solidFill>
                  <a:latin typeface="Calibri"/>
                  <a:ea typeface="Calibri"/>
                  <a:cs typeface="Calibri"/>
                  <a:sym typeface="Calibri"/>
                </a:rPr>
                <a:t> drop-down list.</a:t>
              </a:r>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marL="0" marR="0" lvl="0" indent="0" algn="l" rtl="0">
                <a:spcBef>
                  <a:spcPts val="1544"/>
                </a:spcBef>
                <a:spcAft>
                  <a:spcPts val="0"/>
                </a:spcAft>
                <a:buNone/>
              </a:pPr>
              <a:r>
                <a:rPr lang="en-US" sz="5400">
                  <a:solidFill>
                    <a:srgbClr val="7F7F7F"/>
                  </a:solidFill>
                  <a:latin typeface="Calibri"/>
                  <a:ea typeface="Calibri"/>
                  <a:cs typeface="Calibri"/>
                  <a:sym typeface="Calibri"/>
                </a:rPr>
                <a:t>Printing Your Poster:</a:t>
              </a:r>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Once your poster file is ready, visit </a:t>
              </a:r>
              <a:r>
                <a:rPr lang="en-US" sz="3200" b="1">
                  <a:solidFill>
                    <a:srgbClr val="7F7F7F"/>
                  </a:solidFill>
                  <a:latin typeface="Calibri"/>
                  <a:ea typeface="Calibri"/>
                  <a:cs typeface="Calibri"/>
                  <a:sym typeface="Calibri"/>
                </a:rPr>
                <a:t>www.genigraphics.com</a:t>
              </a:r>
              <a:r>
                <a:rPr lang="en-US" sz="3200">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marL="0" marR="0" lvl="0" indent="0" algn="l" rtl="0">
                <a:spcBef>
                  <a:spcPts val="1544"/>
                </a:spcBef>
                <a:spcAft>
                  <a:spcPts val="0"/>
                </a:spcAft>
                <a:buNone/>
              </a:pPr>
              <a:r>
                <a:rPr lang="en-US" sz="3200">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marL="0" marR="0" lvl="0" indent="0" algn="l" rtl="0">
                <a:spcBef>
                  <a:spcPts val="1544"/>
                </a:spcBef>
                <a:spcAft>
                  <a:spcPts val="0"/>
                </a:spcAft>
                <a:buNone/>
              </a:pPr>
              <a:endParaRPr sz="3200">
                <a:solidFill>
                  <a:srgbClr val="7F7F7F"/>
                </a:solidFill>
                <a:latin typeface="Calibri"/>
                <a:ea typeface="Calibri"/>
                <a:cs typeface="Calibri"/>
                <a:sym typeface="Calibri"/>
              </a:endParaRPr>
            </a:p>
            <a:p>
              <a:pPr marL="0" marR="0" lvl="0" indent="0" algn="ctr" rtl="0">
                <a:spcBef>
                  <a:spcPts val="0"/>
                </a:spcBef>
                <a:spcAft>
                  <a:spcPts val="0"/>
                </a:spcAft>
                <a:buNone/>
              </a:pPr>
              <a:r>
                <a:rPr lang="en-US" sz="3200">
                  <a:solidFill>
                    <a:srgbClr val="7F7F7F"/>
                  </a:solidFill>
                  <a:latin typeface="Calibri"/>
                  <a:ea typeface="Calibri"/>
                  <a:cs typeface="Calibri"/>
                  <a:sym typeface="Calibri"/>
                </a:rPr>
                <a:t>US and Canada:  1-800-790-4001</a:t>
              </a:r>
              <a:br>
                <a:rPr lang="en-US" sz="3200">
                  <a:solidFill>
                    <a:srgbClr val="7F7F7F"/>
                  </a:solidFill>
                  <a:latin typeface="Calibri"/>
                  <a:ea typeface="Calibri"/>
                  <a:cs typeface="Calibri"/>
                  <a:sym typeface="Calibri"/>
                </a:rPr>
              </a:br>
              <a:r>
                <a:rPr lang="en-US" sz="3200">
                  <a:solidFill>
                    <a:srgbClr val="7F7F7F"/>
                  </a:solidFill>
                  <a:latin typeface="Calibri"/>
                  <a:ea typeface="Calibri"/>
                  <a:cs typeface="Calibri"/>
                  <a:sym typeface="Calibri"/>
                </a:rPr>
                <a:t>Email: info@genigraphics.com</a:t>
              </a:r>
              <a:endParaRPr/>
            </a:p>
            <a:p>
              <a:pPr marL="0" marR="0" lvl="0" indent="0" algn="ctr" rtl="0">
                <a:spcBef>
                  <a:spcPts val="0"/>
                </a:spcBef>
                <a:spcAft>
                  <a:spcPts val="0"/>
                </a:spcAft>
                <a:buNone/>
              </a:pPr>
              <a:br>
                <a:rPr lang="en-US" sz="2800">
                  <a:solidFill>
                    <a:srgbClr val="7F7F7F"/>
                  </a:solidFill>
                  <a:latin typeface="Calibri"/>
                  <a:ea typeface="Calibri"/>
                  <a:cs typeface="Calibri"/>
                  <a:sym typeface="Calibri"/>
                </a:rPr>
              </a:br>
              <a:r>
                <a:rPr lang="en-US" sz="2800">
                  <a:solidFill>
                    <a:srgbClr val="7F7F7F"/>
                  </a:solidFill>
                  <a:latin typeface="Calibri"/>
                  <a:ea typeface="Calibri"/>
                  <a:cs typeface="Calibri"/>
                  <a:sym typeface="Calibri"/>
                </a:rPr>
                <a:t>[This sidebar area does not print.]</a:t>
              </a:r>
              <a:endParaRPr/>
            </a:p>
          </p:txBody>
        </p:sp>
        <p:pic>
          <p:nvPicPr>
            <p:cNvPr id="16" name="Google Shape;16;p2"/>
            <p:cNvPicPr preferRelativeResize="0"/>
            <p:nvPr/>
          </p:nvPicPr>
          <p:blipFill rotWithShape="1">
            <a:blip r:embed="rId2">
              <a:alphaModFix/>
            </a:blip>
            <a:srcRect/>
            <a:stretch/>
          </p:blipFill>
          <p:spPr>
            <a:xfrm>
              <a:off x="34281342" y="9107874"/>
              <a:ext cx="11904515" cy="10246926"/>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0" y="3656013"/>
            <a:ext cx="7313613" cy="18281650"/>
          </a:xfrm>
          <a:prstGeom prst="rect">
            <a:avLst/>
          </a:prstGeom>
          <a:solidFill>
            <a:srgbClr val="366092"/>
          </a:solidFill>
          <a:ln>
            <a:noFill/>
          </a:ln>
        </p:spPr>
        <p:txBody>
          <a:bodyPr spcFirstLastPara="1" wrap="square" lIns="457200" tIns="228600" rIns="457200" bIns="457200" anchor="t" anchorCtr="0">
            <a:noAutofit/>
          </a:bodyPr>
          <a:lstStyle/>
          <a:p>
            <a:pPr marL="0" marR="0" lvl="0" indent="0" algn="ctr" rtl="0">
              <a:spcBef>
                <a:spcPts val="0"/>
              </a:spcBef>
              <a:spcAft>
                <a:spcPts val="0"/>
              </a:spcAft>
              <a:buNone/>
            </a:pPr>
            <a:endParaRPr sz="4800" b="0" i="0" u="none" strike="noStrike" cap="none">
              <a:solidFill>
                <a:schemeClr val="dk1"/>
              </a:solidFill>
              <a:latin typeface="Calibri"/>
              <a:ea typeface="Calibri"/>
              <a:cs typeface="Calibri"/>
              <a:sym typeface="Calibri"/>
            </a:endParaRPr>
          </a:p>
        </p:txBody>
      </p:sp>
      <p:sp>
        <p:nvSpPr>
          <p:cNvPr id="7" name="Google Shape;7;p1"/>
          <p:cNvSpPr/>
          <p:nvPr/>
        </p:nvSpPr>
        <p:spPr>
          <a:xfrm>
            <a:off x="7312025" y="0"/>
            <a:ext cx="36564888" cy="3656013"/>
          </a:xfrm>
          <a:prstGeom prst="rect">
            <a:avLst/>
          </a:prstGeom>
          <a:solidFill>
            <a:srgbClr val="366092"/>
          </a:solidFill>
          <a:ln>
            <a:noFill/>
          </a:ln>
        </p:spPr>
        <p:txBody>
          <a:bodyPr spcFirstLastPara="1" wrap="square" lIns="457200" tIns="457200" rIns="457200" bIns="4572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8" name="Google Shape;8;p1"/>
          <p:cNvSpPr/>
          <p:nvPr/>
        </p:nvSpPr>
        <p:spPr>
          <a:xfrm>
            <a:off x="7312025" y="3656013"/>
            <a:ext cx="36564888" cy="18281650"/>
          </a:xfrm>
          <a:prstGeom prst="rect">
            <a:avLst/>
          </a:prstGeom>
          <a:solidFill>
            <a:schemeClr val="lt2"/>
          </a:solidFill>
          <a:ln>
            <a:noFill/>
          </a:ln>
        </p:spPr>
        <p:txBody>
          <a:bodyPr spcFirstLastPara="1" wrap="square" lIns="457200" tIns="457200" rIns="457200" bIns="4572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cxnSp>
        <p:nvCxnSpPr>
          <p:cNvPr id="9" name="Google Shape;9;p1"/>
          <p:cNvCxnSpPr/>
          <p:nvPr/>
        </p:nvCxnSpPr>
        <p:spPr>
          <a:xfrm>
            <a:off x="7312025" y="0"/>
            <a:ext cx="0" cy="21939250"/>
          </a:xfrm>
          <a:prstGeom prst="straightConnector1">
            <a:avLst/>
          </a:prstGeom>
          <a:noFill/>
          <a:ln w="76200" cap="flat" cmpd="sng">
            <a:solidFill>
              <a:schemeClr val="dk1"/>
            </a:solidFill>
            <a:prstDash val="solid"/>
            <a:round/>
            <a:headEnd type="none" w="med" len="med"/>
            <a:tailEnd type="none" w="med" len="med"/>
          </a:ln>
        </p:spPr>
      </p:cxnSp>
      <p:cxnSp>
        <p:nvCxnSpPr>
          <p:cNvPr id="10" name="Google Shape;10;p1"/>
          <p:cNvCxnSpPr/>
          <p:nvPr/>
        </p:nvCxnSpPr>
        <p:spPr>
          <a:xfrm>
            <a:off x="0" y="3657600"/>
            <a:ext cx="43876913" cy="0"/>
          </a:xfrm>
          <a:prstGeom prst="straightConnector1">
            <a:avLst/>
          </a:prstGeom>
          <a:noFill/>
          <a:ln w="76200" cap="flat" cmpd="sng">
            <a:solidFill>
              <a:schemeClr val="dk1"/>
            </a:solidFill>
            <a:prstDash val="solid"/>
            <a:round/>
            <a:headEnd type="none" w="med" len="med"/>
            <a:tailEnd type="none" w="med" len="med"/>
          </a:ln>
        </p:spPr>
      </p:cxnSp>
      <p:pic>
        <p:nvPicPr>
          <p:cNvPr id="11" name="Google Shape;11;p1"/>
          <p:cNvPicPr preferRelativeResize="0"/>
          <p:nvPr/>
        </p:nvPicPr>
        <p:blipFill rotWithShape="1">
          <a:blip r:embed="rId3">
            <a:alphaModFix/>
          </a:blip>
          <a:srcRect/>
          <a:stretch/>
        </p:blipFill>
        <p:spPr>
          <a:xfrm>
            <a:off x="38404800" y="21640800"/>
            <a:ext cx="5297435" cy="1859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
        <p:cNvGrpSpPr/>
        <p:nvPr/>
      </p:nvGrpSpPr>
      <p:grpSpPr>
        <a:xfrm>
          <a:off x="0" y="0"/>
          <a:ext cx="0" cy="0"/>
          <a:chOff x="0" y="0"/>
          <a:chExt cx="0" cy="0"/>
        </a:xfrm>
      </p:grpSpPr>
      <p:sp>
        <p:nvSpPr>
          <p:cNvPr id="21" name="Google Shape;21;p3"/>
          <p:cNvSpPr txBox="1"/>
          <p:nvPr/>
        </p:nvSpPr>
        <p:spPr>
          <a:xfrm>
            <a:off x="7319168" y="152400"/>
            <a:ext cx="36564888" cy="1828800"/>
          </a:xfrm>
          <a:prstGeom prst="rect">
            <a:avLst/>
          </a:prstGeom>
          <a:noFill/>
          <a:ln>
            <a:noFill/>
          </a:ln>
        </p:spPr>
        <p:txBody>
          <a:bodyPr spcFirstLastPara="1" wrap="square" lIns="457200" tIns="457200" rIns="457200" bIns="457200" anchor="ctr" anchorCtr="1">
            <a:noAutofit/>
          </a:bodyPr>
          <a:lstStyle/>
          <a:p>
            <a:pPr marL="0" marR="0" lvl="0" indent="0" algn="ctr" rtl="0">
              <a:spcBef>
                <a:spcPts val="0"/>
              </a:spcBef>
              <a:spcAft>
                <a:spcPts val="0"/>
              </a:spcAft>
              <a:buSzPts val="1100"/>
              <a:buNone/>
            </a:pPr>
            <a:r>
              <a:rPr lang="en-US" sz="6600" b="1" dirty="0">
                <a:solidFill>
                  <a:schemeClr val="lt1"/>
                </a:solidFill>
              </a:rPr>
              <a:t>SignScript: Advanced Translation System for Converting Sign Language and Text</a:t>
            </a:r>
            <a:endParaRPr sz="6600" b="1" dirty="0">
              <a:solidFill>
                <a:schemeClr val="lt1"/>
              </a:solidFill>
            </a:endParaRPr>
          </a:p>
        </p:txBody>
      </p:sp>
      <p:sp>
        <p:nvSpPr>
          <p:cNvPr id="22" name="Google Shape;22;p3"/>
          <p:cNvSpPr txBox="1"/>
          <p:nvPr/>
        </p:nvSpPr>
        <p:spPr>
          <a:xfrm>
            <a:off x="7090187" y="1665312"/>
            <a:ext cx="36564888" cy="1828800"/>
          </a:xfrm>
          <a:prstGeom prst="rect">
            <a:avLst/>
          </a:prstGeom>
          <a:noFill/>
          <a:ln>
            <a:noFill/>
          </a:ln>
        </p:spPr>
        <p:txBody>
          <a:bodyPr spcFirstLastPara="1" wrap="square" lIns="457200" tIns="457200" rIns="457200" bIns="457200" anchor="ctr" anchorCtr="1">
            <a:noAutofit/>
          </a:bodyPr>
          <a:lstStyle/>
          <a:p>
            <a:pPr marL="0" marR="0" lvl="0" indent="0" algn="ctr" rtl="0">
              <a:lnSpc>
                <a:spcPct val="114000"/>
              </a:lnSpc>
              <a:spcBef>
                <a:spcPts val="0"/>
              </a:spcBef>
              <a:spcAft>
                <a:spcPts val="0"/>
              </a:spcAft>
              <a:buNone/>
            </a:pPr>
            <a:r>
              <a:rPr lang="en-US" sz="3200" dirty="0">
                <a:solidFill>
                  <a:schemeClr val="lt1"/>
                </a:solidFill>
                <a:latin typeface="Arial"/>
                <a:ea typeface="Arial"/>
                <a:cs typeface="Arial"/>
                <a:sym typeface="Arial"/>
              </a:rPr>
              <a:t>     </a:t>
            </a:r>
            <a:r>
              <a:rPr lang="en-US" sz="3200" b="1" dirty="0">
                <a:solidFill>
                  <a:schemeClr val="lt1"/>
                </a:solidFill>
                <a:latin typeface="Arial"/>
                <a:ea typeface="Arial"/>
                <a:cs typeface="Arial"/>
                <a:sym typeface="Arial"/>
              </a:rPr>
              <a:t>Department of Computer Science &amp; Engineering</a:t>
            </a:r>
            <a:endParaRPr dirty="0"/>
          </a:p>
          <a:p>
            <a:pPr marL="0" marR="0" lvl="0" indent="0" algn="ctr" rtl="0">
              <a:lnSpc>
                <a:spcPct val="114000"/>
              </a:lnSpc>
              <a:spcBef>
                <a:spcPts val="0"/>
              </a:spcBef>
              <a:spcAft>
                <a:spcPts val="0"/>
              </a:spcAft>
              <a:buNone/>
            </a:pPr>
            <a:r>
              <a:rPr lang="en-US" sz="3200" b="1" dirty="0">
                <a:solidFill>
                  <a:schemeClr val="lt1"/>
                </a:solidFill>
                <a:latin typeface="Arial"/>
                <a:ea typeface="Arial"/>
                <a:cs typeface="Arial"/>
                <a:sym typeface="Arial"/>
              </a:rPr>
              <a:t>School of Computing</a:t>
            </a:r>
          </a:p>
          <a:p>
            <a:pPr marL="0" marR="0" lvl="0" indent="0" algn="ctr" rtl="0">
              <a:lnSpc>
                <a:spcPct val="114000"/>
              </a:lnSpc>
              <a:spcBef>
                <a:spcPts val="0"/>
              </a:spcBef>
              <a:spcAft>
                <a:spcPts val="0"/>
              </a:spcAft>
              <a:buNone/>
            </a:pPr>
            <a:r>
              <a:rPr lang="en-GB" sz="3200" b="1" dirty="0">
                <a:solidFill>
                  <a:schemeClr val="lt1"/>
                </a:solidFill>
              </a:rPr>
              <a:t>Smart India Hackathon - 2024</a:t>
            </a:r>
            <a:endParaRPr dirty="0"/>
          </a:p>
        </p:txBody>
      </p:sp>
      <p:sp>
        <p:nvSpPr>
          <p:cNvPr id="23" name="Google Shape;23;p3"/>
          <p:cNvSpPr txBox="1"/>
          <p:nvPr/>
        </p:nvSpPr>
        <p:spPr>
          <a:xfrm>
            <a:off x="7382073" y="3842556"/>
            <a:ext cx="10969625" cy="914400"/>
          </a:xfrm>
          <a:prstGeom prst="rect">
            <a:avLst/>
          </a:prstGeom>
          <a:noFill/>
          <a:ln>
            <a:noFill/>
          </a:ln>
        </p:spPr>
        <p:txBody>
          <a:bodyPr spcFirstLastPara="1" wrap="square" lIns="228600" tIns="228600" rIns="228600" bIns="228600" anchor="ctr" anchorCtr="1">
            <a:noAutofit/>
          </a:bodyPr>
          <a:lstStyle/>
          <a:p>
            <a:pPr marL="0" marR="0" lvl="0" indent="0" algn="ctr" rtl="0">
              <a:spcBef>
                <a:spcPts val="0"/>
              </a:spcBef>
              <a:spcAft>
                <a:spcPts val="0"/>
              </a:spcAft>
              <a:buNone/>
            </a:pPr>
            <a:r>
              <a:rPr lang="en-US" sz="4000" b="1" dirty="0">
                <a:solidFill>
                  <a:schemeClr val="dk1"/>
                </a:solidFill>
                <a:latin typeface="Arial"/>
                <a:ea typeface="Arial"/>
                <a:cs typeface="Arial"/>
                <a:sym typeface="Arial"/>
              </a:rPr>
              <a:t> Solution Proposal</a:t>
            </a:r>
            <a:endParaRPr dirty="0"/>
          </a:p>
        </p:txBody>
      </p:sp>
      <p:sp>
        <p:nvSpPr>
          <p:cNvPr id="24" name="Google Shape;24;p3"/>
          <p:cNvSpPr txBox="1"/>
          <p:nvPr/>
        </p:nvSpPr>
        <p:spPr>
          <a:xfrm>
            <a:off x="6684943" y="15434871"/>
            <a:ext cx="12514207" cy="914400"/>
          </a:xfrm>
          <a:prstGeom prst="rect">
            <a:avLst/>
          </a:prstGeom>
          <a:noFill/>
          <a:ln>
            <a:noFill/>
          </a:ln>
        </p:spPr>
        <p:txBody>
          <a:bodyPr spcFirstLastPara="1" wrap="square" lIns="228600" tIns="228600" rIns="228600" bIns="228600" anchor="ctr" anchorCtr="1">
            <a:noAutofit/>
          </a:bodyPr>
          <a:lstStyle/>
          <a:p>
            <a:pPr marL="0" marR="0" lvl="0" indent="0" algn="l" rtl="0">
              <a:spcBef>
                <a:spcPts val="0"/>
              </a:spcBef>
              <a:spcAft>
                <a:spcPts val="0"/>
              </a:spcAft>
              <a:buNone/>
            </a:pPr>
            <a:r>
              <a:rPr lang="en-US" sz="4000" b="1" dirty="0">
                <a:solidFill>
                  <a:schemeClr val="dk1"/>
                </a:solidFill>
              </a:rPr>
              <a:t>T</a:t>
            </a:r>
            <a:r>
              <a:rPr lang="en-US" sz="4000" b="1" dirty="0">
                <a:solidFill>
                  <a:schemeClr val="dk1"/>
                </a:solidFill>
                <a:latin typeface="Arial"/>
                <a:ea typeface="Arial"/>
                <a:cs typeface="Arial"/>
                <a:sym typeface="Arial"/>
              </a:rPr>
              <a:t>he Dependencies and Show Stopper</a:t>
            </a:r>
            <a:endParaRPr sz="4000" dirty="0"/>
          </a:p>
        </p:txBody>
      </p:sp>
      <p:sp>
        <p:nvSpPr>
          <p:cNvPr id="25" name="Google Shape;25;p3"/>
          <p:cNvSpPr txBox="1"/>
          <p:nvPr/>
        </p:nvSpPr>
        <p:spPr>
          <a:xfrm>
            <a:off x="32010829" y="12831348"/>
            <a:ext cx="10969500" cy="914400"/>
          </a:xfrm>
          <a:prstGeom prst="rect">
            <a:avLst/>
          </a:prstGeom>
          <a:noFill/>
          <a:ln>
            <a:noFill/>
          </a:ln>
        </p:spPr>
        <p:txBody>
          <a:bodyPr spcFirstLastPara="1" wrap="square" lIns="228600" tIns="228600" rIns="228600" bIns="228600" anchor="ctr" anchorCtr="1">
            <a:noAutofit/>
          </a:bodyPr>
          <a:lstStyle/>
          <a:p>
            <a:pPr marL="0" marR="0" lvl="0" indent="0" algn="l" rtl="0">
              <a:spcBef>
                <a:spcPts val="0"/>
              </a:spcBef>
              <a:spcAft>
                <a:spcPts val="0"/>
              </a:spcAft>
              <a:buNone/>
            </a:pPr>
            <a:r>
              <a:rPr lang="en-US" sz="4000" b="1" dirty="0">
                <a:solidFill>
                  <a:schemeClr val="dk1"/>
                </a:solidFill>
              </a:rPr>
              <a:t>USE CASES</a:t>
            </a:r>
            <a:endParaRPr dirty="0"/>
          </a:p>
        </p:txBody>
      </p:sp>
      <p:sp>
        <p:nvSpPr>
          <p:cNvPr id="26" name="Google Shape;26;p3"/>
          <p:cNvSpPr txBox="1"/>
          <p:nvPr/>
        </p:nvSpPr>
        <p:spPr>
          <a:xfrm>
            <a:off x="32004000" y="3810000"/>
            <a:ext cx="10969625" cy="914400"/>
          </a:xfrm>
          <a:prstGeom prst="rect">
            <a:avLst/>
          </a:prstGeom>
          <a:noFill/>
          <a:ln>
            <a:noFill/>
          </a:ln>
        </p:spPr>
        <p:txBody>
          <a:bodyPr spcFirstLastPara="1" wrap="square" lIns="228600" tIns="228600" rIns="228600" bIns="228600" anchor="ctr" anchorCtr="1">
            <a:noAutofit/>
          </a:bodyPr>
          <a:lstStyle/>
          <a:p>
            <a:pPr marL="0" marR="0" lvl="0" indent="0" algn="ctr" rtl="0">
              <a:spcBef>
                <a:spcPts val="0"/>
              </a:spcBef>
              <a:spcAft>
                <a:spcPts val="0"/>
              </a:spcAft>
              <a:buNone/>
            </a:pPr>
            <a:r>
              <a:rPr lang="en-US" sz="4000" b="1" dirty="0">
                <a:solidFill>
                  <a:schemeClr val="dk1"/>
                </a:solidFill>
                <a:latin typeface="Arial"/>
                <a:ea typeface="Arial"/>
                <a:cs typeface="Arial"/>
                <a:sym typeface="Arial"/>
              </a:rPr>
              <a:t>Technology Stack</a:t>
            </a:r>
            <a:endParaRPr dirty="0"/>
          </a:p>
        </p:txBody>
      </p:sp>
      <p:sp>
        <p:nvSpPr>
          <p:cNvPr id="27" name="Google Shape;27;p3"/>
          <p:cNvSpPr txBox="1"/>
          <p:nvPr/>
        </p:nvSpPr>
        <p:spPr>
          <a:xfrm>
            <a:off x="20116800" y="3810000"/>
            <a:ext cx="10969625" cy="914400"/>
          </a:xfrm>
          <a:prstGeom prst="rect">
            <a:avLst/>
          </a:prstGeom>
          <a:noFill/>
          <a:ln>
            <a:noFill/>
          </a:ln>
        </p:spPr>
        <p:txBody>
          <a:bodyPr spcFirstLastPara="1" wrap="square" lIns="228600" tIns="228600" rIns="228600" bIns="228600" anchor="ctr" anchorCtr="1">
            <a:noAutofit/>
          </a:bodyPr>
          <a:lstStyle/>
          <a:p>
            <a:pPr marL="0" marR="0" lvl="0" indent="0" algn="l" rtl="0">
              <a:spcBef>
                <a:spcPts val="0"/>
              </a:spcBef>
              <a:spcAft>
                <a:spcPts val="0"/>
              </a:spcAft>
              <a:buNone/>
            </a:pPr>
            <a:r>
              <a:rPr lang="en-US" sz="4000" b="1" dirty="0">
                <a:solidFill>
                  <a:schemeClr val="dk1"/>
                </a:solidFill>
                <a:latin typeface="Arial"/>
                <a:ea typeface="Arial"/>
                <a:cs typeface="Arial"/>
                <a:sym typeface="Arial"/>
              </a:rPr>
              <a:t>RESULTS</a:t>
            </a:r>
            <a:endParaRPr dirty="0"/>
          </a:p>
        </p:txBody>
      </p:sp>
      <p:sp>
        <p:nvSpPr>
          <p:cNvPr id="28" name="Google Shape;28;p3"/>
          <p:cNvSpPr txBox="1"/>
          <p:nvPr/>
        </p:nvSpPr>
        <p:spPr>
          <a:xfrm>
            <a:off x="32079902" y="17998776"/>
            <a:ext cx="10969625" cy="914400"/>
          </a:xfrm>
          <a:prstGeom prst="rect">
            <a:avLst/>
          </a:prstGeom>
          <a:noFill/>
          <a:ln>
            <a:noFill/>
          </a:ln>
        </p:spPr>
        <p:txBody>
          <a:bodyPr spcFirstLastPara="1" wrap="square" lIns="228600" tIns="228600" rIns="228600" bIns="228600" anchor="ctr" anchorCtr="1">
            <a:noAutofit/>
          </a:bodyPr>
          <a:lstStyle/>
          <a:p>
            <a:pPr marL="0" marR="0" lvl="0" indent="0" algn="l" rtl="0">
              <a:spcBef>
                <a:spcPts val="0"/>
              </a:spcBef>
              <a:spcAft>
                <a:spcPts val="0"/>
              </a:spcAft>
              <a:buNone/>
            </a:pPr>
            <a:r>
              <a:rPr lang="en-US" sz="4000" b="1" dirty="0">
                <a:solidFill>
                  <a:schemeClr val="tx1"/>
                </a:solidFill>
                <a:latin typeface="Arial"/>
                <a:ea typeface="Arial"/>
                <a:cs typeface="Arial"/>
                <a:sym typeface="Arial"/>
              </a:rPr>
              <a:t>ACKNOWLEDGEMENT</a:t>
            </a:r>
          </a:p>
        </p:txBody>
      </p:sp>
      <p:sp>
        <p:nvSpPr>
          <p:cNvPr id="31" name="Google Shape;31;p3"/>
          <p:cNvSpPr txBox="1"/>
          <p:nvPr/>
        </p:nvSpPr>
        <p:spPr>
          <a:xfrm>
            <a:off x="685800" y="3656013"/>
            <a:ext cx="5943600" cy="914400"/>
          </a:xfrm>
          <a:prstGeom prst="rect">
            <a:avLst/>
          </a:prstGeom>
          <a:noFill/>
          <a:ln>
            <a:noFill/>
          </a:ln>
        </p:spPr>
        <p:txBody>
          <a:bodyPr spcFirstLastPara="1" wrap="square" lIns="228600" tIns="228600" rIns="228600" bIns="228600" anchor="ctr" anchorCtr="0">
            <a:noAutofit/>
          </a:bodyPr>
          <a:lstStyle/>
          <a:p>
            <a:pPr marL="0" marR="0" lvl="0" indent="0" algn="l" rtl="0">
              <a:spcBef>
                <a:spcPts val="0"/>
              </a:spcBef>
              <a:spcAft>
                <a:spcPts val="0"/>
              </a:spcAft>
              <a:buNone/>
            </a:pPr>
            <a:r>
              <a:rPr lang="en-US" sz="4000" dirty="0">
                <a:solidFill>
                  <a:schemeClr val="lt1"/>
                </a:solidFill>
                <a:latin typeface="Arial"/>
                <a:ea typeface="Arial"/>
                <a:cs typeface="Arial"/>
                <a:sym typeface="Arial"/>
              </a:rPr>
              <a:t>ABSTRACT</a:t>
            </a:r>
            <a:endParaRPr dirty="0"/>
          </a:p>
        </p:txBody>
      </p:sp>
      <p:sp>
        <p:nvSpPr>
          <p:cNvPr id="32" name="Google Shape;32;p3"/>
          <p:cNvSpPr txBox="1"/>
          <p:nvPr/>
        </p:nvSpPr>
        <p:spPr>
          <a:xfrm>
            <a:off x="421700" y="11928524"/>
            <a:ext cx="5943600" cy="914400"/>
          </a:xfrm>
          <a:prstGeom prst="rect">
            <a:avLst/>
          </a:prstGeom>
          <a:noFill/>
          <a:ln>
            <a:noFill/>
          </a:ln>
        </p:spPr>
        <p:txBody>
          <a:bodyPr spcFirstLastPara="1" wrap="square" lIns="228600" tIns="228600" rIns="228600" bIns="228600" anchor="ctr" anchorCtr="0">
            <a:noAutofit/>
          </a:bodyPr>
          <a:lstStyle/>
          <a:p>
            <a:pPr marL="0" marR="0" lvl="0" indent="0" algn="l" rtl="0">
              <a:spcBef>
                <a:spcPts val="0"/>
              </a:spcBef>
              <a:spcAft>
                <a:spcPts val="0"/>
              </a:spcAft>
              <a:buNone/>
            </a:pPr>
            <a:r>
              <a:rPr lang="en-US" sz="4000" dirty="0">
                <a:solidFill>
                  <a:schemeClr val="lt1"/>
                </a:solidFill>
                <a:latin typeface="Arial"/>
                <a:ea typeface="Arial"/>
                <a:cs typeface="Arial"/>
                <a:sym typeface="Arial"/>
              </a:rPr>
              <a:t>TEAM MEMBER DETAILS</a:t>
            </a:r>
            <a:endParaRPr lang="en-US" sz="4000" dirty="0"/>
          </a:p>
        </p:txBody>
      </p:sp>
      <p:sp>
        <p:nvSpPr>
          <p:cNvPr id="33" name="Google Shape;33;p3"/>
          <p:cNvSpPr txBox="1"/>
          <p:nvPr/>
        </p:nvSpPr>
        <p:spPr>
          <a:xfrm>
            <a:off x="488144" y="12952659"/>
            <a:ext cx="5091981" cy="8602355"/>
          </a:xfrm>
          <a:prstGeom prst="rect">
            <a:avLst/>
          </a:prstGeom>
          <a:solidFill>
            <a:srgbClr val="366092"/>
          </a:solidFill>
          <a:ln>
            <a:noFill/>
          </a:ln>
        </p:spPr>
        <p:txBody>
          <a:bodyPr spcFirstLastPara="1" wrap="square" lIns="228600" tIns="228600" rIns="228600" bIns="228600" anchor="t" anchorCtr="0">
            <a:spAutoFit/>
          </a:bodyPr>
          <a:lstStyle/>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Marthala Bhargavi </a:t>
            </a:r>
          </a:p>
          <a:p>
            <a:pPr marL="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VTU23371</a:t>
            </a: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9100228595</a:t>
            </a:r>
          </a:p>
          <a:p>
            <a:pPr marL="0" marR="0" lvl="0" indent="0" algn="just" rtl="0">
              <a:spcBef>
                <a:spcPts val="0"/>
              </a:spcBef>
              <a:spcAft>
                <a:spcPts val="0"/>
              </a:spcAft>
              <a:buSzPts val="1100"/>
              <a:buNone/>
            </a:pPr>
            <a:endParaRPr lang="en-US" sz="2300" dirty="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Alapati Hema Latha</a:t>
            </a:r>
          </a:p>
          <a:p>
            <a:pPr marL="0" marR="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VTU22344</a:t>
            </a:r>
          </a:p>
          <a:p>
            <a:pPr marL="0" marR="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9971869870</a:t>
            </a:r>
          </a:p>
          <a:p>
            <a:pPr marL="0" marR="0" lvl="0" indent="0" algn="just" rtl="0">
              <a:spcBef>
                <a:spcPts val="0"/>
              </a:spcBef>
              <a:spcAft>
                <a:spcPts val="0"/>
              </a:spcAft>
              <a:buClr>
                <a:schemeClr val="dk1"/>
              </a:buClr>
              <a:buSzPts val="1100"/>
              <a:buFont typeface="Arial"/>
              <a:buNone/>
            </a:pPr>
            <a:endParaRPr lang="en-US" sz="2300" dirty="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Yash Raj</a:t>
            </a:r>
          </a:p>
          <a:p>
            <a:pPr marL="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VTU23168</a:t>
            </a:r>
          </a:p>
          <a:p>
            <a:pPr marL="0" marR="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7004835906</a:t>
            </a:r>
          </a:p>
          <a:p>
            <a:pPr marL="0" marR="0" lvl="0" indent="0" algn="just" rtl="0">
              <a:spcBef>
                <a:spcPts val="0"/>
              </a:spcBef>
              <a:spcAft>
                <a:spcPts val="0"/>
              </a:spcAft>
              <a:buClr>
                <a:schemeClr val="dk1"/>
              </a:buClr>
              <a:buSzPts val="1100"/>
              <a:buFont typeface="Arial"/>
              <a:buNone/>
            </a:pPr>
            <a:endParaRPr lang="en-US" sz="2300" dirty="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V.Chakradhar</a:t>
            </a:r>
          </a:p>
          <a:p>
            <a:pPr marL="0" marR="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VTU22842</a:t>
            </a:r>
          </a:p>
          <a:p>
            <a:pPr marL="0" marR="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9182197898</a:t>
            </a:r>
          </a:p>
          <a:p>
            <a:pPr marL="0" marR="0" lvl="0" indent="0" algn="just" rtl="0">
              <a:spcBef>
                <a:spcPts val="0"/>
              </a:spcBef>
              <a:spcAft>
                <a:spcPts val="0"/>
              </a:spcAft>
              <a:buSzPts val="1100"/>
              <a:buNone/>
            </a:pPr>
            <a:endParaRPr lang="en-US" sz="2300" dirty="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T.Jeevan Sai</a:t>
            </a:r>
          </a:p>
          <a:p>
            <a:pPr marL="0" marR="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VTU22514</a:t>
            </a:r>
          </a:p>
          <a:p>
            <a:pPr marL="0" marR="0" lvl="0" indent="0" algn="just" rtl="0">
              <a:spcBef>
                <a:spcPts val="0"/>
              </a:spcBef>
              <a:spcAft>
                <a:spcPts val="0"/>
              </a:spcAft>
              <a:buClr>
                <a:schemeClr val="dk1"/>
              </a:buClr>
              <a:buSzPts val="1100"/>
              <a:buFont typeface="Arial"/>
              <a:buNone/>
            </a:pPr>
            <a:r>
              <a:rPr lang="en-US" sz="2300" dirty="0">
                <a:solidFill>
                  <a:schemeClr val="lt1"/>
                </a:solidFill>
                <a:latin typeface="Times New Roman"/>
                <a:ea typeface="Times New Roman"/>
                <a:cs typeface="Times New Roman"/>
                <a:sym typeface="Times New Roman"/>
              </a:rPr>
              <a:t>9948972000</a:t>
            </a:r>
          </a:p>
          <a:p>
            <a:pPr marL="0" marR="0" lvl="0" indent="0" algn="just" rtl="0">
              <a:spcBef>
                <a:spcPts val="0"/>
              </a:spcBef>
              <a:spcAft>
                <a:spcPts val="0"/>
              </a:spcAft>
              <a:buClr>
                <a:schemeClr val="dk1"/>
              </a:buClr>
              <a:buSzPts val="1100"/>
              <a:buFont typeface="Arial"/>
              <a:buNone/>
            </a:pPr>
            <a:endParaRPr lang="en-US" sz="2300" dirty="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S.Pavaneswar Reddy</a:t>
            </a: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VTU21992</a:t>
            </a:r>
          </a:p>
          <a:p>
            <a:pPr marL="0" marR="0" lvl="0" indent="0" algn="just" rtl="0">
              <a:spcBef>
                <a:spcPts val="0"/>
              </a:spcBef>
              <a:spcAft>
                <a:spcPts val="0"/>
              </a:spcAft>
              <a:buSzPts val="1100"/>
              <a:buNone/>
            </a:pPr>
            <a:r>
              <a:rPr lang="en-US" sz="2300" dirty="0">
                <a:solidFill>
                  <a:schemeClr val="lt1"/>
                </a:solidFill>
                <a:latin typeface="Times New Roman"/>
                <a:ea typeface="Times New Roman"/>
                <a:cs typeface="Times New Roman"/>
                <a:sym typeface="Times New Roman"/>
              </a:rPr>
              <a:t>9121998920</a:t>
            </a:r>
          </a:p>
        </p:txBody>
      </p:sp>
      <p:sp>
        <p:nvSpPr>
          <p:cNvPr id="34" name="Google Shape;34;p3"/>
          <p:cNvSpPr txBox="1"/>
          <p:nvPr/>
        </p:nvSpPr>
        <p:spPr>
          <a:xfrm>
            <a:off x="488144" y="4585644"/>
            <a:ext cx="5976354" cy="6740307"/>
          </a:xfrm>
          <a:prstGeom prst="rect">
            <a:avLst/>
          </a:prstGeom>
          <a:solidFill>
            <a:srgbClr val="366092"/>
          </a:solidFill>
          <a:ln>
            <a:noFill/>
          </a:ln>
        </p:spPr>
        <p:txBody>
          <a:bodyPr spcFirstLastPara="1" wrap="square" lIns="228600" tIns="228600" rIns="228600" bIns="228600" anchor="t" anchorCtr="0">
            <a:spAutoFit/>
          </a:bodyPr>
          <a:lstStyle/>
          <a:p>
            <a:pPr algn="just"/>
            <a:r>
              <a:rPr lang="en-US" sz="2400">
                <a:solidFill>
                  <a:schemeClr val="lt1"/>
                </a:solidFill>
                <a:latin typeface="Times New Roman"/>
              </a:rPr>
              <a:t>Indian Sign language is a vital means of communication for the deaf and hard of hearing community, but it can be a barrier for those who do not know sign language. Automatic sign language recognition systems have the potential to bridge this communication gap. This system uses computer vision and machine learning </a:t>
            </a:r>
          </a:p>
          <a:p>
            <a:pPr algn="just"/>
            <a:r>
              <a:rPr lang="en-US" sz="2400">
                <a:solidFill>
                  <a:schemeClr val="lt1"/>
                </a:solidFill>
                <a:latin typeface="Times New Roman"/>
              </a:rPr>
              <a:t>techniques to recognize and interpret sign language. The system is trained on a large dataset of sign language videos and achieves high accuracy in recognizing individual signs and phrases. Additionally, the system can be integrated with speech recognition systems to enable communication between sign language users and non-sign language users.</a:t>
            </a:r>
          </a:p>
        </p:txBody>
      </p:sp>
      <p:sp>
        <p:nvSpPr>
          <p:cNvPr id="35" name="Google Shape;35;p3"/>
          <p:cNvSpPr txBox="1"/>
          <p:nvPr/>
        </p:nvSpPr>
        <p:spPr>
          <a:xfrm>
            <a:off x="20116800" y="4670822"/>
            <a:ext cx="10969500" cy="8987066"/>
          </a:xfrm>
          <a:prstGeom prst="rect">
            <a:avLst/>
          </a:prstGeom>
          <a:solidFill>
            <a:schemeClr val="lt1"/>
          </a:solidFill>
          <a:ln>
            <a:noFill/>
          </a:ln>
        </p:spPr>
        <p:txBody>
          <a:bodyPr spcFirstLastPara="1" wrap="square" lIns="182875" tIns="182875" rIns="182875" bIns="182875" anchor="t" anchorCtr="0">
            <a:spAutoFit/>
          </a:bodyPr>
          <a:lstStyle/>
          <a:p>
            <a:pPr algn="just">
              <a:buClr>
                <a:schemeClr val="dk1"/>
              </a:buClr>
              <a:buSzPts val="1100"/>
            </a:pPr>
            <a:r>
              <a:rPr lang="en-US" sz="2800" dirty="0">
                <a:solidFill>
                  <a:schemeClr val="dk1"/>
                </a:solidFill>
                <a:latin typeface="Times" panose="02020603050405020304" pitchFamily="18" charset="0"/>
                <a:ea typeface="Times New Roman"/>
                <a:cs typeface="Times" panose="02020603050405020304" pitchFamily="18" charset="0"/>
              </a:rPr>
              <a:t>The sign language recognition system has been designed to effectively convert sign language gestures into text and vice versa, with several key outcomes anticipated upon its implementation. </a:t>
            </a:r>
            <a:r>
              <a:rPr lang="en-US" sz="2800" b="1" dirty="0">
                <a:solidFill>
                  <a:schemeClr val="dk1"/>
                </a:solidFill>
                <a:latin typeface="Times" panose="02020603050405020304" pitchFamily="18" charset="0"/>
                <a:ea typeface="Times New Roman"/>
                <a:cs typeface="Times" panose="02020603050405020304" pitchFamily="18" charset="0"/>
              </a:rPr>
              <a:t>The system is expected to achieve high accuracy </a:t>
            </a:r>
            <a:r>
              <a:rPr lang="en-US" sz="2800" dirty="0">
                <a:solidFill>
                  <a:schemeClr val="dk1"/>
                </a:solidFill>
                <a:latin typeface="Times" panose="02020603050405020304" pitchFamily="18" charset="0"/>
                <a:ea typeface="Times New Roman"/>
                <a:cs typeface="Times" panose="02020603050405020304" pitchFamily="18" charset="0"/>
              </a:rPr>
              <a:t>in recognizing a broad range of sign language gestures, with a target accuracy rate of approximately 90%. It should be able to accurately interpret common signs and phrases from the sign language dataset, enabling seamless translation between sign language and text. Precision and recall metrics are anticipated to be high, ensuring reliable recognition of individual signs and sequences. Furthermore, the integration of this system into web and mobile platforms is expected to enhance accessibility, providing users with an easy-to-use tool for communication. The anticipated results include robust performance across different devices and environments, supporting widespread adoption and practical use in educational and everyday contexts.</a:t>
            </a:r>
          </a:p>
          <a:p>
            <a:pPr algn="just">
              <a:buClr>
                <a:schemeClr val="dk1"/>
              </a:buClr>
              <a:buSzPts val="1100"/>
            </a:pPr>
            <a:endParaRPr lang="en-US" sz="2800" dirty="0">
              <a:solidFill>
                <a:schemeClr val="dk1"/>
              </a:solidFill>
              <a:latin typeface="Times" panose="02020603050405020304" pitchFamily="18" charset="0"/>
              <a:ea typeface="Times New Roman"/>
              <a:cs typeface="Times" panose="02020603050405020304" pitchFamily="18" charset="0"/>
            </a:endParaRPr>
          </a:p>
          <a:p>
            <a:pPr algn="just">
              <a:buClr>
                <a:schemeClr val="dk1"/>
              </a:buClr>
              <a:buSzPts val="1100"/>
            </a:pPr>
            <a:endParaRPr lang="en-US" sz="2800" dirty="0">
              <a:solidFill>
                <a:schemeClr val="dk1"/>
              </a:solidFill>
              <a:latin typeface="Times" panose="02020603050405020304" pitchFamily="18" charset="0"/>
              <a:ea typeface="Times New Roman"/>
              <a:cs typeface="Times" panose="02020603050405020304" pitchFamily="18" charset="0"/>
            </a:endParaRPr>
          </a:p>
          <a:p>
            <a:pPr algn="just">
              <a:buClr>
                <a:schemeClr val="dk1"/>
              </a:buClr>
              <a:buSzPts val="1100"/>
            </a:pPr>
            <a:endParaRPr lang="en-US" sz="2800" dirty="0">
              <a:solidFill>
                <a:schemeClr val="dk1"/>
              </a:solidFill>
              <a:latin typeface="Times" panose="02020603050405020304" pitchFamily="18" charset="0"/>
              <a:ea typeface="Times New Roman"/>
              <a:cs typeface="Times" panose="02020603050405020304" pitchFamily="18" charset="0"/>
            </a:endParaRPr>
          </a:p>
          <a:p>
            <a:pPr algn="just">
              <a:buClr>
                <a:schemeClr val="dk1"/>
              </a:buClr>
              <a:buSzPts val="1100"/>
            </a:pPr>
            <a:endParaRPr lang="en-US" sz="2800" dirty="0">
              <a:solidFill>
                <a:schemeClr val="dk1"/>
              </a:solidFill>
              <a:latin typeface="Times" panose="02020603050405020304" pitchFamily="18" charset="0"/>
              <a:ea typeface="Times New Roman"/>
              <a:cs typeface="Times" panose="02020603050405020304" pitchFamily="18" charset="0"/>
            </a:endParaRPr>
          </a:p>
          <a:p>
            <a:pPr algn="just">
              <a:buClr>
                <a:schemeClr val="dk1"/>
              </a:buClr>
              <a:buSzPts val="1100"/>
            </a:pPr>
            <a:endParaRPr lang="en-US" sz="2800" dirty="0">
              <a:solidFill>
                <a:schemeClr val="dk1"/>
              </a:solidFill>
              <a:latin typeface="Times" panose="02020603050405020304" pitchFamily="18" charset="0"/>
              <a:ea typeface="Times New Roman"/>
              <a:cs typeface="Times" panose="02020603050405020304" pitchFamily="18" charset="0"/>
            </a:endParaRPr>
          </a:p>
          <a:p>
            <a:pPr algn="just">
              <a:buClr>
                <a:schemeClr val="dk1"/>
              </a:buClr>
              <a:buSzPts val="1100"/>
            </a:pPr>
            <a:endParaRPr lang="en-US" sz="2800" dirty="0">
              <a:solidFill>
                <a:schemeClr val="dk1"/>
              </a:solidFill>
              <a:latin typeface="Times" panose="02020603050405020304" pitchFamily="18" charset="0"/>
              <a:ea typeface="Times New Roman"/>
              <a:cs typeface="Times" panose="02020603050405020304" pitchFamily="18" charset="0"/>
            </a:endParaRPr>
          </a:p>
        </p:txBody>
      </p:sp>
      <p:sp>
        <p:nvSpPr>
          <p:cNvPr id="36" name="Google Shape;36;p3"/>
          <p:cNvSpPr txBox="1"/>
          <p:nvPr/>
        </p:nvSpPr>
        <p:spPr>
          <a:xfrm>
            <a:off x="31967318" y="4621403"/>
            <a:ext cx="10969500" cy="8109902"/>
          </a:xfrm>
          <a:prstGeom prst="rect">
            <a:avLst/>
          </a:prstGeom>
          <a:solidFill>
            <a:schemeClr val="lt1"/>
          </a:solidFill>
          <a:ln>
            <a:noFill/>
          </a:ln>
        </p:spPr>
        <p:txBody>
          <a:bodyPr spcFirstLastPara="1" wrap="square" lIns="182875" tIns="182875" rIns="182875" bIns="182875" anchor="t" anchorCtr="0">
            <a:spAutoFit/>
          </a:bodyPr>
          <a:lstStyle/>
          <a:p>
            <a:pPr marL="0" lvl="0" indent="0" algn="just" rtl="0">
              <a:lnSpc>
                <a:spcPct val="115000"/>
              </a:lnSpc>
              <a:spcBef>
                <a:spcPts val="1200"/>
              </a:spcBef>
              <a:spcAft>
                <a:spcPts val="1200"/>
              </a:spcAft>
              <a:buSzPts val="1100"/>
              <a:buNone/>
            </a:pPr>
            <a:r>
              <a:rPr lang="en-US" sz="2800" dirty="0">
                <a:solidFill>
                  <a:srgbClr val="1F1F1F"/>
                </a:solidFill>
                <a:latin typeface="Times New Roman"/>
                <a:ea typeface="Times New Roman"/>
                <a:cs typeface="Times New Roman"/>
                <a:sym typeface="Times New Roman"/>
              </a:rPr>
              <a:t>The technology stack for a sign language recognition system encompasses a diverse set of tools and frameworks designed to capture, process, and analyze sign language gestures. On the software side, programming languages like </a:t>
            </a:r>
            <a:r>
              <a:rPr lang="en-US" sz="2800" b="1" dirty="0">
                <a:solidFill>
                  <a:srgbClr val="1F1F1F"/>
                </a:solidFill>
                <a:latin typeface="Times New Roman"/>
                <a:ea typeface="Times New Roman"/>
                <a:cs typeface="Times New Roman"/>
                <a:sym typeface="Times New Roman"/>
              </a:rPr>
              <a:t>Python </a:t>
            </a:r>
            <a:r>
              <a:rPr lang="en-US" sz="2800" dirty="0">
                <a:solidFill>
                  <a:srgbClr val="1F1F1F"/>
                </a:solidFill>
                <a:latin typeface="Times New Roman"/>
                <a:ea typeface="Times New Roman"/>
                <a:cs typeface="Times New Roman"/>
                <a:sym typeface="Times New Roman"/>
              </a:rPr>
              <a:t>and</a:t>
            </a:r>
            <a:r>
              <a:rPr lang="en-US" sz="2800" b="1" dirty="0">
                <a:solidFill>
                  <a:srgbClr val="1F1F1F"/>
                </a:solidFill>
                <a:latin typeface="Times New Roman"/>
                <a:ea typeface="Times New Roman"/>
                <a:cs typeface="Times New Roman"/>
                <a:sym typeface="Times New Roman"/>
              </a:rPr>
              <a:t> JavaScript </a:t>
            </a:r>
            <a:r>
              <a:rPr lang="en-US" sz="2800" dirty="0">
                <a:solidFill>
                  <a:srgbClr val="1F1F1F"/>
                </a:solidFill>
                <a:latin typeface="Times New Roman"/>
                <a:ea typeface="Times New Roman"/>
                <a:cs typeface="Times New Roman"/>
                <a:sym typeface="Times New Roman"/>
              </a:rPr>
              <a:t>are employed for developing the core functionality and user interface. Deep learning frameworks, particularly </a:t>
            </a:r>
            <a:r>
              <a:rPr lang="en-US" sz="2800" b="1" dirty="0">
                <a:solidFill>
                  <a:srgbClr val="1F1F1F"/>
                </a:solidFill>
                <a:latin typeface="Times New Roman"/>
                <a:ea typeface="Times New Roman"/>
                <a:cs typeface="Times New Roman"/>
                <a:sym typeface="Times New Roman"/>
              </a:rPr>
              <a:t>Convolutional Neural Networks (CNNs) </a:t>
            </a:r>
            <a:r>
              <a:rPr lang="en-US" sz="2800" dirty="0">
                <a:solidFill>
                  <a:srgbClr val="1F1F1F"/>
                </a:solidFill>
                <a:latin typeface="Times New Roman"/>
                <a:ea typeface="Times New Roman"/>
                <a:cs typeface="Times New Roman"/>
                <a:sym typeface="Times New Roman"/>
              </a:rPr>
              <a:t>for spatial feature extraction and </a:t>
            </a:r>
            <a:r>
              <a:rPr lang="en-US" sz="2800" b="1" dirty="0">
                <a:solidFill>
                  <a:srgbClr val="1F1F1F"/>
                </a:solidFill>
                <a:latin typeface="Times New Roman"/>
                <a:ea typeface="Times New Roman"/>
                <a:cs typeface="Times New Roman"/>
                <a:sym typeface="Times New Roman"/>
              </a:rPr>
              <a:t>Recurrent Neural Networks (RNNs), </a:t>
            </a:r>
            <a:r>
              <a:rPr lang="en-US" sz="2800" dirty="0">
                <a:solidFill>
                  <a:srgbClr val="1F1F1F"/>
                </a:solidFill>
                <a:latin typeface="Times New Roman"/>
                <a:ea typeface="Times New Roman"/>
                <a:cs typeface="Times New Roman"/>
                <a:sym typeface="Times New Roman"/>
              </a:rPr>
              <a:t>including</a:t>
            </a:r>
            <a:r>
              <a:rPr lang="en-US" sz="2800" b="1" dirty="0">
                <a:solidFill>
                  <a:srgbClr val="1F1F1F"/>
                </a:solidFill>
                <a:latin typeface="Times New Roman"/>
                <a:ea typeface="Times New Roman"/>
                <a:cs typeface="Times New Roman"/>
                <a:sym typeface="Times New Roman"/>
              </a:rPr>
              <a:t> You Only Look Once(YOLOv8n) networks</a:t>
            </a:r>
            <a:r>
              <a:rPr lang="en-US" sz="2800" dirty="0">
                <a:solidFill>
                  <a:srgbClr val="1F1F1F"/>
                </a:solidFill>
                <a:latin typeface="Times New Roman"/>
                <a:ea typeface="Times New Roman"/>
                <a:cs typeface="Times New Roman"/>
                <a:sym typeface="Times New Roman"/>
              </a:rPr>
              <a:t>, for sequence modeling. For web-based applications, </a:t>
            </a:r>
            <a:r>
              <a:rPr lang="en-US" sz="2800" b="1" dirty="0">
                <a:solidFill>
                  <a:srgbClr val="1F1F1F"/>
                </a:solidFill>
                <a:latin typeface="Times New Roman"/>
                <a:ea typeface="Times New Roman"/>
                <a:cs typeface="Times New Roman"/>
                <a:sym typeface="Times New Roman"/>
              </a:rPr>
              <a:t>HTML5, CSS, </a:t>
            </a:r>
            <a:r>
              <a:rPr lang="en-US" sz="2800" dirty="0">
                <a:solidFill>
                  <a:srgbClr val="1F1F1F"/>
                </a:solidFill>
                <a:latin typeface="Times New Roman"/>
                <a:ea typeface="Times New Roman"/>
                <a:cs typeface="Times New Roman"/>
                <a:sym typeface="Times New Roman"/>
              </a:rPr>
              <a:t>and</a:t>
            </a:r>
            <a:r>
              <a:rPr lang="en-US" sz="2800" b="1" dirty="0">
                <a:solidFill>
                  <a:srgbClr val="1F1F1F"/>
                </a:solidFill>
                <a:latin typeface="Times New Roman"/>
                <a:ea typeface="Times New Roman"/>
                <a:cs typeface="Times New Roman"/>
                <a:sym typeface="Times New Roman"/>
              </a:rPr>
              <a:t> JavaScript </a:t>
            </a:r>
            <a:r>
              <a:rPr lang="en-US" sz="2800" dirty="0">
                <a:solidFill>
                  <a:srgbClr val="1F1F1F"/>
                </a:solidFill>
                <a:latin typeface="Times New Roman"/>
                <a:ea typeface="Times New Roman"/>
                <a:cs typeface="Times New Roman"/>
                <a:sym typeface="Times New Roman"/>
              </a:rPr>
              <a:t>are used to create an interactive interface. Data management involves SQL or NoSQL databases for storing structured and unstructured data, complemented by annotation tools like</a:t>
            </a:r>
            <a:r>
              <a:rPr lang="en-US" sz="2800" b="1" dirty="0">
                <a:solidFill>
                  <a:srgbClr val="1F1F1F"/>
                </a:solidFill>
                <a:latin typeface="Times New Roman"/>
                <a:ea typeface="Times New Roman"/>
                <a:cs typeface="Times New Roman"/>
                <a:sym typeface="Times New Roman"/>
              </a:rPr>
              <a:t> Computer Vision Annotation Tool(CVAT) </a:t>
            </a:r>
            <a:r>
              <a:rPr lang="en-US" sz="2800" dirty="0">
                <a:solidFill>
                  <a:srgbClr val="1F1F1F"/>
                </a:solidFill>
                <a:latin typeface="Times New Roman"/>
                <a:ea typeface="Times New Roman"/>
                <a:cs typeface="Times New Roman"/>
                <a:sym typeface="Times New Roman"/>
              </a:rPr>
              <a:t>for preparing training datasets. Development is supported by integrated development environments such as Kaggle(Opensource),and Ultralytics which is a machine learning Library.</a:t>
            </a:r>
            <a:endParaRPr lang="en-US" sz="2800" dirty="0">
              <a:solidFill>
                <a:srgbClr val="1F1F1F"/>
              </a:solidFill>
              <a:latin typeface="Times New Roman"/>
              <a:ea typeface="Times New Roman"/>
              <a:cs typeface="Times New Roman"/>
            </a:endParaRPr>
          </a:p>
        </p:txBody>
      </p:sp>
      <p:sp>
        <p:nvSpPr>
          <p:cNvPr id="37" name="Google Shape;37;p3"/>
          <p:cNvSpPr txBox="1"/>
          <p:nvPr/>
        </p:nvSpPr>
        <p:spPr>
          <a:xfrm>
            <a:off x="7863850" y="16684643"/>
            <a:ext cx="10969500" cy="3323977"/>
          </a:xfrm>
          <a:prstGeom prst="rect">
            <a:avLst/>
          </a:prstGeom>
          <a:solidFill>
            <a:schemeClr val="lt1"/>
          </a:solidFill>
          <a:ln>
            <a:noFill/>
          </a:ln>
        </p:spPr>
        <p:txBody>
          <a:bodyPr spcFirstLastPara="1" wrap="square" lIns="182875" tIns="182875" rIns="182875" bIns="182875" anchor="t" anchorCtr="0">
            <a:spAutoFit/>
          </a:bodyPr>
          <a:lstStyle/>
          <a:p>
            <a:pPr marL="0" marR="0" lvl="0" indent="0" algn="just" rtl="0">
              <a:spcBef>
                <a:spcPts val="0"/>
              </a:spcBef>
              <a:spcAft>
                <a:spcPts val="0"/>
              </a:spcAft>
              <a:buClr>
                <a:schemeClr val="dk1"/>
              </a:buClr>
              <a:buSzPts val="1100"/>
              <a:buFont typeface="Arial"/>
              <a:buNone/>
            </a:pPr>
            <a:r>
              <a:rPr lang="en-US" sz="2400" b="1" dirty="0">
                <a:latin typeface="Times New Roman"/>
                <a:ea typeface="Times New Roman"/>
                <a:cs typeface="Times New Roman"/>
                <a:sym typeface="Times New Roman"/>
              </a:rPr>
              <a:t> Dependencies:</a:t>
            </a:r>
            <a:endParaRPr lang="en-US" sz="2400" b="1" dirty="0">
              <a:latin typeface="Times New Roman"/>
              <a:ea typeface="Times New Roman"/>
              <a:cs typeface="Times New Roman"/>
            </a:endParaRPr>
          </a:p>
          <a:p>
            <a:pPr algn="just"/>
            <a:r>
              <a:rPr lang="en-US" sz="2400" dirty="0">
                <a:latin typeface="Times New Roman" panose="02020603050405020304" pitchFamily="18" charset="0"/>
                <a:ea typeface="Times New Roman"/>
                <a:cs typeface="Times New Roman" panose="02020603050405020304" pitchFamily="18" charset="0"/>
                <a:sym typeface="Times New Roman"/>
              </a:rPr>
              <a:t>1. </a:t>
            </a:r>
            <a:r>
              <a:rPr lang="en-IN" sz="2400" dirty="0">
                <a:latin typeface="Times New Roman" panose="02020603050405020304" pitchFamily="18" charset="0"/>
                <a:cs typeface="Times New Roman" panose="02020603050405020304" pitchFamily="18" charset="0"/>
              </a:rPr>
              <a:t>Data Collection and Annotation.</a:t>
            </a:r>
          </a:p>
          <a:p>
            <a:pPr marL="0" marR="0" lvl="0" indent="0" algn="just" rtl="0">
              <a:spcBef>
                <a:spcPts val="0"/>
              </a:spcBef>
              <a:spcAft>
                <a:spcPts val="0"/>
              </a:spcAft>
              <a:buClr>
                <a:schemeClr val="dk1"/>
              </a:buClr>
              <a:buSzPts val="1100"/>
              <a:buFont typeface="Arial"/>
              <a:buNone/>
            </a:pPr>
            <a:r>
              <a:rPr lang="en-US" sz="2400" dirty="0">
                <a:latin typeface="Times New Roman" panose="02020603050405020304" pitchFamily="18" charset="0"/>
                <a:ea typeface="Times New Roman"/>
                <a:cs typeface="Times New Roman" panose="02020603050405020304" pitchFamily="18" charset="0"/>
                <a:sym typeface="Times New Roman"/>
              </a:rPr>
              <a:t>2. T</a:t>
            </a:r>
            <a:r>
              <a:rPr lang="en-US" sz="2400" dirty="0">
                <a:latin typeface="Times New Roman" panose="02020603050405020304" pitchFamily="18" charset="0"/>
                <a:cs typeface="Times New Roman" panose="02020603050405020304" pitchFamily="18" charset="0"/>
              </a:rPr>
              <a:t>raining deep learning models and methods. </a:t>
            </a:r>
            <a:r>
              <a:rPr lang="en-US" sz="2400" dirty="0">
                <a:latin typeface="Times New Roman" panose="02020603050405020304" pitchFamily="18" charset="0"/>
                <a:ea typeface="Times New Roman"/>
                <a:cs typeface="Times New Roman" panose="02020603050405020304" pitchFamily="18" charset="0"/>
                <a:sym typeface="Times New Roman"/>
              </a:rPr>
              <a:t>.</a:t>
            </a:r>
            <a:endParaRPr lang="en-IN" sz="2400" dirty="0">
              <a:latin typeface="Times New Roman" panose="02020603050405020304" pitchFamily="18" charset="0"/>
              <a:ea typeface="Times New Roman"/>
              <a:cs typeface="Times New Roman" panose="02020603050405020304" pitchFamily="18" charset="0"/>
            </a:endParaRPr>
          </a:p>
          <a:p>
            <a:pPr marL="0" marR="0" lvl="0" indent="0" algn="just" rtl="0">
              <a:spcBef>
                <a:spcPts val="0"/>
              </a:spcBef>
              <a:spcAft>
                <a:spcPts val="0"/>
              </a:spcAft>
              <a:buClr>
                <a:schemeClr val="dk1"/>
              </a:buClr>
              <a:buSzPts val="1100"/>
              <a:buFont typeface="Arial"/>
              <a:buNone/>
            </a:pPr>
            <a:r>
              <a:rPr lang="en-US" sz="2400" dirty="0">
                <a:latin typeface="Times New Roman" panose="02020603050405020304" pitchFamily="18" charset="0"/>
                <a:ea typeface="Times New Roman"/>
                <a:cs typeface="Times New Roman" panose="02020603050405020304" pitchFamily="18" charset="0"/>
                <a:sym typeface="Times New Roman"/>
              </a:rPr>
              <a:t>3. T</a:t>
            </a:r>
            <a:r>
              <a:rPr lang="en-US" sz="2400" dirty="0">
                <a:latin typeface="Times New Roman" panose="02020603050405020304" pitchFamily="18" charset="0"/>
                <a:cs typeface="Times New Roman" panose="02020603050405020304" pitchFamily="18" charset="0"/>
              </a:rPr>
              <a:t>he technology is affordable and accessible.</a:t>
            </a:r>
          </a:p>
          <a:p>
            <a:pPr marL="0" marR="0" lvl="0" indent="0" algn="just" rtl="0">
              <a:spcBef>
                <a:spcPts val="0"/>
              </a:spcBef>
              <a:spcAft>
                <a:spcPts val="0"/>
              </a:spcAft>
              <a:buClr>
                <a:schemeClr val="dk1"/>
              </a:buClr>
              <a:buSzPts val="1100"/>
              <a:buFont typeface="Arial"/>
              <a:buNone/>
            </a:pPr>
            <a:r>
              <a:rPr lang="en-US" sz="2400" b="1" dirty="0">
                <a:latin typeface="Times New Roman"/>
                <a:ea typeface="Times New Roman"/>
                <a:cs typeface="Times New Roman"/>
                <a:sym typeface="Times New Roman"/>
              </a:rPr>
              <a:t>Show Stoppers:</a:t>
            </a:r>
            <a:endParaRPr lang="en-IN" sz="2400" b="1" dirty="0">
              <a:latin typeface="Times New Roman"/>
              <a:ea typeface="Times New Roman"/>
              <a:cs typeface="Times New Roman"/>
            </a:endParaRPr>
          </a:p>
          <a:p>
            <a:pPr marL="0" marR="0" lvl="0" indent="0" algn="just" rtl="0">
              <a:spcBef>
                <a:spcPts val="0"/>
              </a:spcBef>
              <a:spcAft>
                <a:spcPts val="0"/>
              </a:spcAft>
              <a:buClr>
                <a:schemeClr val="dk1"/>
              </a:buClr>
              <a:buSzPts val="1100"/>
              <a:buFont typeface="Arial"/>
              <a:buNone/>
            </a:pPr>
            <a:r>
              <a:rPr lang="en-US" sz="2400" dirty="0">
                <a:latin typeface="Times New Roman"/>
                <a:ea typeface="Times New Roman"/>
                <a:cs typeface="Times New Roman"/>
                <a:sym typeface="Times New Roman"/>
              </a:rPr>
              <a:t>1. Budget constraints.</a:t>
            </a:r>
            <a:endParaRPr lang="en-IN" sz="2400" dirty="0">
              <a:latin typeface="Times New Roman"/>
              <a:ea typeface="Times New Roman"/>
              <a:cs typeface="Times New Roman"/>
            </a:endParaRPr>
          </a:p>
          <a:p>
            <a:pPr marL="0" marR="0" lvl="0" indent="0" algn="just" rtl="0">
              <a:spcBef>
                <a:spcPts val="0"/>
              </a:spcBef>
              <a:spcAft>
                <a:spcPts val="0"/>
              </a:spcAft>
              <a:buClr>
                <a:schemeClr val="dk1"/>
              </a:buClr>
              <a:buSzPts val="1100"/>
              <a:buFont typeface="Arial"/>
              <a:buNone/>
            </a:pPr>
            <a:r>
              <a:rPr lang="en-US" sz="2400" dirty="0">
                <a:latin typeface="Times New Roman"/>
                <a:ea typeface="Times New Roman"/>
                <a:cs typeface="Times New Roman"/>
                <a:sym typeface="Times New Roman"/>
              </a:rPr>
              <a:t>2. Lack of stakeholder support.</a:t>
            </a:r>
            <a:endParaRPr lang="en-IN" sz="2400" dirty="0">
              <a:latin typeface="Times New Roman"/>
              <a:ea typeface="Times New Roman"/>
              <a:cs typeface="Times New Roman"/>
            </a:endParaRPr>
          </a:p>
          <a:p>
            <a:pPr marL="0" marR="0" lvl="0" indent="0" algn="just" rtl="0">
              <a:spcBef>
                <a:spcPts val="0"/>
              </a:spcBef>
              <a:spcAft>
                <a:spcPts val="0"/>
              </a:spcAft>
              <a:buClr>
                <a:schemeClr val="dk1"/>
              </a:buClr>
              <a:buSzPts val="1100"/>
              <a:buFont typeface="Arial"/>
              <a:buNone/>
            </a:pPr>
            <a:r>
              <a:rPr lang="en-US" sz="2400" dirty="0">
                <a:latin typeface="Times New Roman"/>
                <a:ea typeface="Times New Roman"/>
                <a:cs typeface="Times New Roman"/>
                <a:sym typeface="Times New Roman"/>
              </a:rPr>
              <a:t>3. Technological limitations..</a:t>
            </a:r>
            <a:endParaRPr lang="en-IN" sz="2400" dirty="0">
              <a:latin typeface="Times New Roman"/>
              <a:ea typeface="Times New Roman"/>
              <a:cs typeface="Times New Roman"/>
            </a:endParaRPr>
          </a:p>
        </p:txBody>
      </p:sp>
      <p:sp>
        <p:nvSpPr>
          <p:cNvPr id="38" name="Google Shape;38;p3"/>
          <p:cNvSpPr txBox="1"/>
          <p:nvPr/>
        </p:nvSpPr>
        <p:spPr>
          <a:xfrm>
            <a:off x="32003999" y="13597121"/>
            <a:ext cx="11385530" cy="4093082"/>
          </a:xfrm>
          <a:prstGeom prst="rect">
            <a:avLst/>
          </a:prstGeom>
          <a:solidFill>
            <a:schemeClr val="lt1"/>
          </a:solidFill>
          <a:ln>
            <a:noFill/>
          </a:ln>
        </p:spPr>
        <p:txBody>
          <a:bodyPr spcFirstLastPara="1" wrap="square" lIns="182875" tIns="182875" rIns="182875" bIns="182875" anchor="t" anchorCtr="0">
            <a:spAutoFit/>
          </a:bodyPr>
          <a:lstStyle/>
          <a:p>
            <a:pPr marL="0" lvl="0" indent="0" algn="l" rtl="0">
              <a:lnSpc>
                <a:spcPct val="115000"/>
              </a:lnSpc>
              <a:spcBef>
                <a:spcPts val="1200"/>
              </a:spcBef>
              <a:spcAft>
                <a:spcPts val="0"/>
              </a:spcAft>
              <a:buClr>
                <a:schemeClr val="dk1"/>
              </a:buClr>
              <a:buSzPts val="1100"/>
              <a:buFont typeface="Arial"/>
              <a:buNone/>
            </a:pPr>
            <a:endParaRPr lang="en-US" sz="2100">
              <a:solidFill>
                <a:schemeClr val="dk1"/>
              </a:solidFill>
              <a:latin typeface="Times New Roman"/>
              <a:cs typeface="Times New Roman"/>
            </a:endParaRPr>
          </a:p>
        </p:txBody>
      </p:sp>
      <p:sp>
        <p:nvSpPr>
          <p:cNvPr id="39" name="Google Shape;39;p3"/>
          <p:cNvSpPr txBox="1"/>
          <p:nvPr/>
        </p:nvSpPr>
        <p:spPr>
          <a:xfrm>
            <a:off x="32017524" y="19019076"/>
            <a:ext cx="11385532" cy="2051834"/>
          </a:xfrm>
          <a:prstGeom prst="rect">
            <a:avLst/>
          </a:prstGeom>
          <a:solidFill>
            <a:schemeClr val="lt1"/>
          </a:solidFill>
          <a:ln>
            <a:noFill/>
          </a:ln>
        </p:spPr>
        <p:txBody>
          <a:bodyPr spcFirstLastPara="1" wrap="square" lIns="182875" tIns="182875" rIns="182875" bIns="182875" anchor="t" anchorCtr="0">
            <a:spAutoFit/>
          </a:bodyPr>
          <a:lstStyle/>
          <a:p>
            <a:pPr marL="457200" indent="-381000" algn="just">
              <a:spcBef>
                <a:spcPts val="1600"/>
              </a:spcBef>
              <a:buClr>
                <a:schemeClr val="dk1"/>
              </a:buClr>
              <a:buSzPts val="2400"/>
              <a:buAutoNum type="arabicPeriod"/>
            </a:pPr>
            <a:r>
              <a:rPr lang="en-US" sz="2400" dirty="0" err="1">
                <a:solidFill>
                  <a:schemeClr val="dk1"/>
                </a:solidFill>
              </a:rPr>
              <a:t>Dr.N.MALARVIZHI</a:t>
            </a:r>
            <a:r>
              <a:rPr lang="en-US" sz="2400" dirty="0">
                <a:solidFill>
                  <a:schemeClr val="dk1"/>
                </a:solidFill>
              </a:rPr>
              <a:t> / Professor </a:t>
            </a:r>
            <a:endParaRPr lang="en-IN" sz="2400" dirty="0">
              <a:solidFill>
                <a:schemeClr val="dk1"/>
              </a:solidFill>
            </a:endParaRPr>
          </a:p>
          <a:p>
            <a:pPr marL="457200" lvl="0" indent="-381000" algn="just" rtl="0">
              <a:spcBef>
                <a:spcPts val="0"/>
              </a:spcBef>
              <a:spcAft>
                <a:spcPts val="0"/>
              </a:spcAft>
              <a:buClr>
                <a:schemeClr val="dk1"/>
              </a:buClr>
              <a:buSzPts val="2400"/>
              <a:buAutoNum type="arabicPeriod"/>
            </a:pPr>
            <a:r>
              <a:rPr lang="en-IN" sz="2400" dirty="0">
                <a:solidFill>
                  <a:schemeClr val="dk1"/>
                </a:solidFill>
              </a:rPr>
              <a:t>TTS2250</a:t>
            </a:r>
            <a:endParaRPr sz="2400" dirty="0">
              <a:solidFill>
                <a:schemeClr val="dk1"/>
              </a:solidFill>
            </a:endParaRPr>
          </a:p>
          <a:p>
            <a:pPr marL="457200" marR="0" lvl="0" indent="-381000" algn="just" rtl="0">
              <a:spcBef>
                <a:spcPts val="0"/>
              </a:spcBef>
              <a:spcAft>
                <a:spcPts val="0"/>
              </a:spcAft>
              <a:buClr>
                <a:schemeClr val="dk1"/>
              </a:buClr>
              <a:buSzPts val="2400"/>
              <a:buAutoNum type="arabicPeriod"/>
            </a:pPr>
            <a:r>
              <a:rPr lang="en-US" sz="2400" dirty="0">
                <a:solidFill>
                  <a:schemeClr val="dk1"/>
                </a:solidFill>
              </a:rPr>
              <a:t>9003183172</a:t>
            </a:r>
          </a:p>
          <a:p>
            <a:pPr marL="457200" marR="0" lvl="0" indent="-381000" algn="just" rtl="0">
              <a:spcBef>
                <a:spcPts val="0"/>
              </a:spcBef>
              <a:spcAft>
                <a:spcPts val="0"/>
              </a:spcAft>
              <a:buClr>
                <a:schemeClr val="dk1"/>
              </a:buClr>
              <a:buSzPts val="2400"/>
              <a:buAutoNum type="arabicPeriod"/>
            </a:pPr>
            <a:r>
              <a:rPr lang="en-US" sz="2400" dirty="0">
                <a:solidFill>
                  <a:schemeClr val="dk1"/>
                </a:solidFill>
              </a:rPr>
              <a:t>drnmalarvizhi@veltech.edu.in </a:t>
            </a:r>
            <a:endParaRPr sz="2400" dirty="0">
              <a:solidFill>
                <a:schemeClr val="dk1"/>
              </a:solidFill>
            </a:endParaRPr>
          </a:p>
        </p:txBody>
      </p:sp>
      <p:sp>
        <p:nvSpPr>
          <p:cNvPr id="40" name="Google Shape;40;p3"/>
          <p:cNvSpPr txBox="1"/>
          <p:nvPr/>
        </p:nvSpPr>
        <p:spPr>
          <a:xfrm>
            <a:off x="22910756" y="20678189"/>
            <a:ext cx="5646401" cy="392395"/>
          </a:xfrm>
          <a:prstGeom prst="rect">
            <a:avLst/>
          </a:prstGeom>
          <a:noFill/>
          <a:ln>
            <a:noFill/>
          </a:ln>
        </p:spPr>
        <p:txBody>
          <a:bodyPr spcFirstLastPara="1" wrap="square" lIns="83800" tIns="41900" rIns="83800" bIns="41900" anchor="t" anchorCtr="0">
            <a:spAutoFit/>
          </a:bodyPr>
          <a:lstStyle/>
          <a:p>
            <a:pPr marL="0" marR="0" lvl="0" indent="0" algn="ctr" rtl="0">
              <a:spcBef>
                <a:spcPts val="0"/>
              </a:spcBef>
              <a:spcAft>
                <a:spcPts val="0"/>
              </a:spcAft>
              <a:buNone/>
            </a:pPr>
            <a:r>
              <a:rPr lang="en-US" sz="2000" b="1" dirty="0">
                <a:solidFill>
                  <a:schemeClr val="tx1"/>
                </a:solidFill>
                <a:latin typeface="Arial"/>
                <a:ea typeface="Arial"/>
                <a:cs typeface="Arial"/>
                <a:sym typeface="Arial"/>
              </a:rPr>
              <a:t>Chart 1.</a:t>
            </a:r>
            <a:r>
              <a:rPr lang="en-US" sz="2000" b="1" dirty="0">
                <a:solidFill>
                  <a:schemeClr val="tx1"/>
                </a:solidFill>
              </a:rPr>
              <a:t> Process Flow of GestureSpeak</a:t>
            </a:r>
            <a:endParaRPr lang="en-US" dirty="0">
              <a:solidFill>
                <a:schemeClr val="tx1"/>
              </a:solidFill>
            </a:endParaRPr>
          </a:p>
        </p:txBody>
      </p:sp>
      <p:pic>
        <p:nvPicPr>
          <p:cNvPr id="41" name="Google Shape;41;p3"/>
          <p:cNvPicPr preferRelativeResize="0"/>
          <p:nvPr/>
        </p:nvPicPr>
        <p:blipFill rotWithShape="1">
          <a:blip r:embed="rId3">
            <a:alphaModFix/>
          </a:blip>
          <a:srcRect/>
          <a:stretch/>
        </p:blipFill>
        <p:spPr>
          <a:xfrm>
            <a:off x="685801" y="688725"/>
            <a:ext cx="5943600" cy="1828800"/>
          </a:xfrm>
          <a:prstGeom prst="rect">
            <a:avLst/>
          </a:prstGeom>
          <a:noFill/>
          <a:ln>
            <a:noFill/>
          </a:ln>
        </p:spPr>
      </p:pic>
      <p:sp>
        <p:nvSpPr>
          <p:cNvPr id="42" name="Google Shape;42;p3"/>
          <p:cNvSpPr txBox="1"/>
          <p:nvPr/>
        </p:nvSpPr>
        <p:spPr>
          <a:xfrm>
            <a:off x="20030992" y="13962846"/>
            <a:ext cx="11318187" cy="700171"/>
          </a:xfrm>
          <a:prstGeom prst="rect">
            <a:avLst/>
          </a:prstGeom>
          <a:noFill/>
          <a:ln>
            <a:noFill/>
          </a:ln>
        </p:spPr>
        <p:txBody>
          <a:bodyPr spcFirstLastPara="1" wrap="square" lIns="83800" tIns="41900" rIns="83800" bIns="41900" anchor="t" anchorCtr="0">
            <a:spAutoFit/>
          </a:bodyPr>
          <a:lstStyle/>
          <a:p>
            <a:pPr marL="0" marR="0" lvl="0" indent="0" algn="ctr" rtl="0">
              <a:spcBef>
                <a:spcPts val="0"/>
              </a:spcBef>
              <a:spcAft>
                <a:spcPts val="0"/>
              </a:spcAft>
              <a:buNone/>
            </a:pPr>
            <a:r>
              <a:rPr lang="en-US" sz="4000" b="1" dirty="0">
                <a:solidFill>
                  <a:schemeClr val="tx1"/>
                </a:solidFill>
              </a:rPr>
              <a:t>P</a:t>
            </a:r>
            <a:r>
              <a:rPr lang="en-US" sz="4000" b="1" dirty="0">
                <a:solidFill>
                  <a:schemeClr val="tx1"/>
                </a:solidFill>
                <a:latin typeface="Arial"/>
                <a:ea typeface="Arial"/>
                <a:cs typeface="Arial"/>
                <a:sym typeface="Arial"/>
              </a:rPr>
              <a:t>rocess </a:t>
            </a:r>
            <a:r>
              <a:rPr lang="en-US" sz="4000" b="1" dirty="0">
                <a:solidFill>
                  <a:schemeClr val="tx1"/>
                </a:solidFill>
              </a:rPr>
              <a:t>F</a:t>
            </a:r>
            <a:r>
              <a:rPr lang="en-US" sz="4000" b="1" dirty="0">
                <a:solidFill>
                  <a:schemeClr val="tx1"/>
                </a:solidFill>
                <a:latin typeface="Arial"/>
                <a:ea typeface="Arial"/>
                <a:cs typeface="Arial"/>
                <a:sym typeface="Arial"/>
              </a:rPr>
              <a:t>low of the Solution</a:t>
            </a:r>
            <a:endParaRPr sz="4000" dirty="0">
              <a:solidFill>
                <a:schemeClr val="tx1"/>
              </a:solidFill>
              <a:latin typeface="Arial"/>
              <a:ea typeface="Arial"/>
              <a:cs typeface="Arial"/>
              <a:sym typeface="Arial"/>
            </a:endParaRPr>
          </a:p>
        </p:txBody>
      </p:sp>
      <p:sp>
        <p:nvSpPr>
          <p:cNvPr id="43" name="Google Shape;43;p3"/>
          <p:cNvSpPr txBox="1"/>
          <p:nvPr/>
        </p:nvSpPr>
        <p:spPr>
          <a:xfrm>
            <a:off x="30606062" y="1730322"/>
            <a:ext cx="11902449" cy="16157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lt1"/>
                </a:solidFill>
                <a:latin typeface="Arial"/>
                <a:ea typeface="Arial"/>
                <a:cs typeface="Arial"/>
                <a:sym typeface="Arial"/>
              </a:rPr>
              <a:t>PS No. : 1716</a:t>
            </a:r>
            <a:endParaRPr sz="3600" dirty="0">
              <a:solidFill>
                <a:schemeClr val="lt1"/>
              </a:solidFill>
            </a:endParaRPr>
          </a:p>
          <a:p>
            <a:pPr marL="0" marR="0" lvl="0" indent="0" algn="l" rtl="0">
              <a:spcBef>
                <a:spcPts val="0"/>
              </a:spcBef>
              <a:spcAft>
                <a:spcPts val="0"/>
              </a:spcAft>
              <a:buNone/>
            </a:pPr>
            <a:r>
              <a:rPr lang="en-US" sz="3200" dirty="0">
                <a:solidFill>
                  <a:schemeClr val="lt1"/>
                </a:solidFill>
                <a:latin typeface="Arial"/>
                <a:ea typeface="Arial"/>
                <a:cs typeface="Arial"/>
                <a:sym typeface="Arial"/>
              </a:rPr>
              <a:t>PS Organization: Ministry of Social Justice </a:t>
            </a:r>
          </a:p>
          <a:p>
            <a:pPr marL="0" marR="0" lvl="0" indent="0" algn="l" rtl="0">
              <a:spcBef>
                <a:spcPts val="0"/>
              </a:spcBef>
              <a:spcAft>
                <a:spcPts val="0"/>
              </a:spcAft>
              <a:buNone/>
            </a:pPr>
            <a:r>
              <a:rPr lang="en-US" sz="3200" dirty="0">
                <a:solidFill>
                  <a:schemeClr val="lt1"/>
                </a:solidFill>
              </a:rPr>
              <a:t>a</a:t>
            </a:r>
            <a:r>
              <a:rPr lang="en-US" sz="3200" dirty="0">
                <a:solidFill>
                  <a:schemeClr val="lt1"/>
                </a:solidFill>
                <a:latin typeface="Arial"/>
                <a:ea typeface="Arial"/>
                <a:cs typeface="Arial"/>
                <a:sym typeface="Arial"/>
              </a:rPr>
              <a:t>nd Empowerment</a:t>
            </a:r>
            <a:r>
              <a:rPr lang="en-US" sz="3500" dirty="0">
                <a:solidFill>
                  <a:schemeClr val="lt1"/>
                </a:solidFill>
                <a:latin typeface="Arial"/>
                <a:ea typeface="Arial"/>
                <a:cs typeface="Arial"/>
                <a:sym typeface="Arial"/>
              </a:rPr>
              <a:t> </a:t>
            </a:r>
            <a:endParaRPr sz="3200" dirty="0">
              <a:solidFill>
                <a:schemeClr val="lt1"/>
              </a:solidFill>
            </a:endParaRPr>
          </a:p>
        </p:txBody>
      </p:sp>
      <p:sp>
        <p:nvSpPr>
          <p:cNvPr id="44" name="Google Shape;44;p3"/>
          <p:cNvSpPr txBox="1"/>
          <p:nvPr/>
        </p:nvSpPr>
        <p:spPr>
          <a:xfrm>
            <a:off x="8690450" y="5335225"/>
            <a:ext cx="10508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solidFill>
                <a:schemeClr val="dk1"/>
              </a:solidFill>
              <a:latin typeface="Roboto"/>
              <a:ea typeface="Roboto"/>
              <a:cs typeface="Roboto"/>
              <a:sym typeface="Roboto"/>
            </a:endParaRPr>
          </a:p>
        </p:txBody>
      </p:sp>
      <p:sp>
        <p:nvSpPr>
          <p:cNvPr id="46" name="Google Shape;46;p3"/>
          <p:cNvSpPr txBox="1"/>
          <p:nvPr/>
        </p:nvSpPr>
        <p:spPr>
          <a:xfrm>
            <a:off x="7863850" y="4660557"/>
            <a:ext cx="11492800" cy="10525928"/>
          </a:xfrm>
          <a:prstGeom prst="rect">
            <a:avLst/>
          </a:prstGeom>
          <a:solidFill>
            <a:schemeClr val="bg1"/>
          </a:solidFill>
          <a:ln>
            <a:noFill/>
          </a:ln>
        </p:spPr>
        <p:txBody>
          <a:bodyPr spcFirstLastPara="1" wrap="square" lIns="91425" tIns="91425" rIns="91425" bIns="91425" anchor="t" anchorCtr="0">
            <a:spAutoFit/>
          </a:bodyPr>
          <a:lstStyle/>
          <a:p>
            <a:pPr algn="just"/>
            <a:r>
              <a:rPr lang="en-US" sz="2800" dirty="0">
                <a:solidFill>
                  <a:srgbClr val="374151"/>
                </a:solidFill>
                <a:latin typeface="Times"/>
                <a:cs typeface="Times New Roman"/>
              </a:rPr>
              <a:t>Sign language recognition is a crucial solution to overcome the communication barriers faced by deaf and dumb people. The primary goal of sign language recognition systems is to enable deaf and dumb individuals to communicate with the rest of the world using sign language. This can be achieved by the website that we have created which helps lot of  sign language users to convey their views. It is an user interactive platform for recognizing sign language and translate it into text or speech in real-time. Our system utilize </a:t>
            </a:r>
            <a:r>
              <a:rPr lang="en-US" sz="2800" b="1" dirty="0">
                <a:solidFill>
                  <a:srgbClr val="374151"/>
                </a:solidFill>
                <a:latin typeface="Times"/>
                <a:cs typeface="Times New Roman"/>
              </a:rPr>
              <a:t>deep learning techniques</a:t>
            </a:r>
            <a:r>
              <a:rPr lang="en-US" sz="2800" dirty="0">
                <a:solidFill>
                  <a:srgbClr val="374151"/>
                </a:solidFill>
                <a:latin typeface="Times"/>
                <a:cs typeface="Times New Roman"/>
              </a:rPr>
              <a:t> like </a:t>
            </a:r>
            <a:r>
              <a:rPr lang="en-US" sz="2800" b="1" dirty="0">
                <a:solidFill>
                  <a:srgbClr val="374151"/>
                </a:solidFill>
                <a:latin typeface="Times"/>
                <a:cs typeface="Times New Roman"/>
              </a:rPr>
              <a:t>Convolutional Neural Networks (CNNs) and Recurrent Neural Networks (RNNs</a:t>
            </a:r>
            <a:r>
              <a:rPr lang="en-US" sz="2800" dirty="0">
                <a:solidFill>
                  <a:srgbClr val="374151"/>
                </a:solidFill>
                <a:latin typeface="Times"/>
                <a:cs typeface="Times New Roman"/>
              </a:rPr>
              <a:t>) to recognize and classify sign language gestures.</a:t>
            </a:r>
            <a:r>
              <a:rPr lang="en-US" sz="2800" dirty="0">
                <a:solidFill>
                  <a:srgbClr val="374151"/>
                </a:solidFill>
                <a:latin typeface="Times"/>
              </a:rPr>
              <a:t> Using a dataset of annotated sign language videos, our model is trained to identify and classify hand shapes, orientations, and movements, allowing for real-time translation into text or speech. Our solution overcomes existing limitations in sign language recognition, including variability in signing styles and lighting conditions. With an accuracy rate of 80%, our system has the potential to revolutionize communication for the deaf and hard of hearing community, promoting social inclusion and accessibility in various aspects of life, from education and employment to healthcare and social interactions.</a:t>
            </a:r>
            <a:endParaRPr lang="en-US" sz="2800" dirty="0"/>
          </a:p>
          <a:p>
            <a:pPr algn="just"/>
            <a:r>
              <a:rPr lang="en-US" sz="2800" dirty="0">
                <a:solidFill>
                  <a:srgbClr val="374151"/>
                </a:solidFill>
                <a:latin typeface="Times"/>
              </a:rPr>
              <a:t>.</a:t>
            </a:r>
            <a:endParaRPr lang="en-US" sz="2800" dirty="0"/>
          </a:p>
          <a:p>
            <a:pPr algn="just"/>
            <a:endParaRPr lang="en-US" sz="2800" dirty="0">
              <a:solidFill>
                <a:srgbClr val="374151"/>
              </a:solidFill>
              <a:latin typeface="Times"/>
            </a:endParaRPr>
          </a:p>
          <a:p>
            <a:pPr algn="just"/>
            <a:endParaRPr lang="en-US" sz="2800" dirty="0">
              <a:solidFill>
                <a:srgbClr val="374151"/>
              </a:solidFill>
              <a:latin typeface="Times"/>
            </a:endParaRPr>
          </a:p>
          <a:p>
            <a:pPr algn="just"/>
            <a:endParaRPr lang="en-US" sz="2800" dirty="0">
              <a:solidFill>
                <a:srgbClr val="374151"/>
              </a:solidFill>
              <a:latin typeface="Times"/>
            </a:endParaRPr>
          </a:p>
          <a:p>
            <a:pPr algn="just"/>
            <a:endParaRPr lang="en-US" sz="2800" dirty="0">
              <a:solidFill>
                <a:srgbClr val="374151"/>
              </a:solidFill>
              <a:latin typeface="Times"/>
            </a:endParaRPr>
          </a:p>
          <a:p>
            <a:pPr algn="just"/>
            <a:endParaRPr lang="en-US" sz="2800" dirty="0">
              <a:solidFill>
                <a:srgbClr val="374151"/>
              </a:solidFill>
              <a:latin typeface="Times"/>
            </a:endParaRPr>
          </a:p>
          <a:p>
            <a:pPr algn="just"/>
            <a:endParaRPr lang="en-US" sz="2800" dirty="0">
              <a:solidFill>
                <a:srgbClr val="374151"/>
              </a:solidFill>
              <a:latin typeface="Times"/>
            </a:endParaRPr>
          </a:p>
        </p:txBody>
      </p:sp>
      <p:pic>
        <p:nvPicPr>
          <p:cNvPr id="2" name="Picture 1">
            <a:extLst>
              <a:ext uri="{FF2B5EF4-FFF2-40B4-BE49-F238E27FC236}">
                <a16:creationId xmlns:a16="http://schemas.microsoft.com/office/drawing/2014/main" id="{7D069D7C-63A9-B1C6-02BB-536925284426}"/>
              </a:ext>
            </a:extLst>
          </p:cNvPr>
          <p:cNvPicPr>
            <a:picLocks noChangeAspect="1"/>
          </p:cNvPicPr>
          <p:nvPr/>
        </p:nvPicPr>
        <p:blipFill>
          <a:blip r:embed="rId4"/>
          <a:stretch>
            <a:fillRect/>
          </a:stretch>
        </p:blipFill>
        <p:spPr>
          <a:xfrm>
            <a:off x="39233726" y="1860586"/>
            <a:ext cx="2325521" cy="1355592"/>
          </a:xfrm>
          <a:prstGeom prst="rect">
            <a:avLst/>
          </a:prstGeom>
        </p:spPr>
      </p:pic>
      <p:pic>
        <p:nvPicPr>
          <p:cNvPr id="3" name="Picture 2">
            <a:extLst>
              <a:ext uri="{FF2B5EF4-FFF2-40B4-BE49-F238E27FC236}">
                <a16:creationId xmlns:a16="http://schemas.microsoft.com/office/drawing/2014/main" id="{98D98703-1AB2-779F-43CB-4E2C284DB8AD}"/>
              </a:ext>
            </a:extLst>
          </p:cNvPr>
          <p:cNvPicPr>
            <a:picLocks noChangeAspect="1"/>
          </p:cNvPicPr>
          <p:nvPr/>
        </p:nvPicPr>
        <p:blipFill>
          <a:blip r:embed="rId5"/>
          <a:stretch>
            <a:fillRect/>
          </a:stretch>
        </p:blipFill>
        <p:spPr>
          <a:xfrm>
            <a:off x="41543416" y="1889999"/>
            <a:ext cx="2111659" cy="1266996"/>
          </a:xfrm>
          <a:prstGeom prst="rect">
            <a:avLst/>
          </a:prstGeom>
        </p:spPr>
      </p:pic>
      <p:sp>
        <p:nvSpPr>
          <p:cNvPr id="7" name="Rectangle 4">
            <a:extLst>
              <a:ext uri="{FF2B5EF4-FFF2-40B4-BE49-F238E27FC236}">
                <a16:creationId xmlns:a16="http://schemas.microsoft.com/office/drawing/2014/main" id="{5AADE203-EDA9-6A33-0D7F-7967CBFB92AF}"/>
              </a:ext>
            </a:extLst>
          </p:cNvPr>
          <p:cNvSpPr>
            <a:spLocks noChangeArrowheads="1"/>
          </p:cNvSpPr>
          <p:nvPr/>
        </p:nvSpPr>
        <p:spPr bwMode="auto">
          <a:xfrm>
            <a:off x="457200" y="13403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descr="A diagram of a sign language&#10;&#10;Description automatically generated">
            <a:extLst>
              <a:ext uri="{FF2B5EF4-FFF2-40B4-BE49-F238E27FC236}">
                <a16:creationId xmlns:a16="http://schemas.microsoft.com/office/drawing/2014/main" id="{8DAF0FA2-5689-8769-FB16-5BE48B5D6FDE}"/>
              </a:ext>
            </a:extLst>
          </p:cNvPr>
          <p:cNvPicPr>
            <a:picLocks noChangeAspect="1"/>
          </p:cNvPicPr>
          <p:nvPr/>
        </p:nvPicPr>
        <p:blipFill>
          <a:blip r:embed="rId6"/>
          <a:stretch>
            <a:fillRect/>
          </a:stretch>
        </p:blipFill>
        <p:spPr>
          <a:xfrm>
            <a:off x="20237668" y="14887548"/>
            <a:ext cx="10904836" cy="5498756"/>
          </a:xfrm>
          <a:prstGeom prst="rect">
            <a:avLst/>
          </a:prstGeom>
        </p:spPr>
        <p:style>
          <a:lnRef idx="2">
            <a:schemeClr val="accent1">
              <a:shade val="15000"/>
            </a:schemeClr>
          </a:lnRef>
          <a:fillRef idx="1">
            <a:schemeClr val="accent1"/>
          </a:fillRef>
          <a:effectRef idx="0">
            <a:schemeClr val="accent1"/>
          </a:effectRef>
          <a:fontRef idx="minor">
            <a:schemeClr val="lt1"/>
          </a:fontRef>
        </p:style>
      </p:pic>
      <p:pic>
        <p:nvPicPr>
          <p:cNvPr id="17" name="Picture 16">
            <a:extLst>
              <a:ext uri="{FF2B5EF4-FFF2-40B4-BE49-F238E27FC236}">
                <a16:creationId xmlns:a16="http://schemas.microsoft.com/office/drawing/2014/main" id="{C9ACBBBB-D874-3E96-85EB-2D5261C8CF1B}"/>
              </a:ext>
            </a:extLst>
          </p:cNvPr>
          <p:cNvPicPr>
            <a:picLocks noChangeAspect="1"/>
          </p:cNvPicPr>
          <p:nvPr/>
        </p:nvPicPr>
        <p:blipFill>
          <a:blip r:embed="rId7"/>
          <a:stretch>
            <a:fillRect/>
          </a:stretch>
        </p:blipFill>
        <p:spPr>
          <a:xfrm>
            <a:off x="39066304" y="14097288"/>
            <a:ext cx="3442207" cy="2280047"/>
          </a:xfrm>
          <a:prstGeom prst="rect">
            <a:avLst/>
          </a:prstGeom>
        </p:spPr>
      </p:pic>
      <p:sp>
        <p:nvSpPr>
          <p:cNvPr id="18" name="TextBox 17">
            <a:extLst>
              <a:ext uri="{FF2B5EF4-FFF2-40B4-BE49-F238E27FC236}">
                <a16:creationId xmlns:a16="http://schemas.microsoft.com/office/drawing/2014/main" id="{6DF6ED8A-674C-7DCE-C9D4-008C8386EFE9}"/>
              </a:ext>
            </a:extLst>
          </p:cNvPr>
          <p:cNvSpPr txBox="1"/>
          <p:nvPr/>
        </p:nvSpPr>
        <p:spPr>
          <a:xfrm>
            <a:off x="32457545" y="16738334"/>
            <a:ext cx="3806320" cy="461665"/>
          </a:xfrm>
          <a:prstGeom prst="rect">
            <a:avLst/>
          </a:prstGeom>
          <a:noFill/>
        </p:spPr>
        <p:txBody>
          <a:bodyPr wrap="square" rtlCol="0">
            <a:sp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69F2CB89-122D-07F6-FAEF-EBAE3031F2AA}"/>
              </a:ext>
            </a:extLst>
          </p:cNvPr>
          <p:cNvSpPr txBox="1"/>
          <p:nvPr/>
        </p:nvSpPr>
        <p:spPr>
          <a:xfrm>
            <a:off x="38702191" y="16498042"/>
            <a:ext cx="3806320" cy="830997"/>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Figure 3: Educational Purpose</a:t>
            </a:r>
          </a:p>
        </p:txBody>
      </p:sp>
      <p:pic>
        <p:nvPicPr>
          <p:cNvPr id="20" name="Picture 19">
            <a:extLst>
              <a:ext uri="{FF2B5EF4-FFF2-40B4-BE49-F238E27FC236}">
                <a16:creationId xmlns:a16="http://schemas.microsoft.com/office/drawing/2014/main" id="{978FFC58-8509-0DC8-6FEE-5E13D0C5B8C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348512" y="12045140"/>
            <a:ext cx="3604155" cy="2689178"/>
          </a:xfrm>
          <a:prstGeom prst="rect">
            <a:avLst/>
          </a:prstGeom>
        </p:spPr>
      </p:pic>
      <p:sp>
        <p:nvSpPr>
          <p:cNvPr id="50" name="TextBox 49">
            <a:extLst>
              <a:ext uri="{FF2B5EF4-FFF2-40B4-BE49-F238E27FC236}">
                <a16:creationId xmlns:a16="http://schemas.microsoft.com/office/drawing/2014/main" id="{AF4ECA9A-D31E-1AFC-6438-49080CD6D530}"/>
              </a:ext>
            </a:extLst>
          </p:cNvPr>
          <p:cNvSpPr txBox="1"/>
          <p:nvPr/>
        </p:nvSpPr>
        <p:spPr>
          <a:xfrm>
            <a:off x="11146347" y="14661674"/>
            <a:ext cx="3806320" cy="461665"/>
          </a:xfrm>
          <a:prstGeom prst="rect">
            <a:avLst/>
          </a:prstGeom>
          <a:noFill/>
        </p:spPr>
        <p:txBody>
          <a:bodyPr wrap="square" rtlCol="0">
            <a:spAutoFit/>
          </a:bodyPr>
          <a:lstStyle/>
          <a:p>
            <a:pPr algn="r"/>
            <a:r>
              <a:rPr lang="en-IN" sz="2400" b="1" dirty="0">
                <a:latin typeface="Times New Roman" panose="02020603050405020304" pitchFamily="18" charset="0"/>
                <a:cs typeface="Times New Roman" panose="02020603050405020304" pitchFamily="18" charset="0"/>
              </a:rPr>
              <a:t>Figure 1: Data Processing</a:t>
            </a:r>
          </a:p>
        </p:txBody>
      </p:sp>
      <p:sp>
        <p:nvSpPr>
          <p:cNvPr id="12" name="AutoShape 2" descr="ASL hand gesture recognition accuracy comparison chart">
            <a:extLst>
              <a:ext uri="{FF2B5EF4-FFF2-40B4-BE49-F238E27FC236}">
                <a16:creationId xmlns:a16="http://schemas.microsoft.com/office/drawing/2014/main" id="{FA8CB8B1-EE2F-279B-7B71-11F778DF45F7}"/>
              </a:ext>
            </a:extLst>
          </p:cNvPr>
          <p:cNvSpPr>
            <a:spLocks noChangeAspect="1" noChangeArrowheads="1"/>
          </p:cNvSpPr>
          <p:nvPr/>
        </p:nvSpPr>
        <p:spPr bwMode="auto">
          <a:xfrm>
            <a:off x="21793200" y="1082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9" name="Picture 28">
            <a:extLst>
              <a:ext uri="{FF2B5EF4-FFF2-40B4-BE49-F238E27FC236}">
                <a16:creationId xmlns:a16="http://schemas.microsoft.com/office/drawing/2014/main" id="{AD981792-5533-8818-9B7B-B859F22A8A61}"/>
              </a:ext>
            </a:extLst>
          </p:cNvPr>
          <p:cNvPicPr>
            <a:picLocks noChangeAspect="1"/>
          </p:cNvPicPr>
          <p:nvPr/>
        </p:nvPicPr>
        <p:blipFill>
          <a:blip r:embed="rId9"/>
          <a:stretch>
            <a:fillRect/>
          </a:stretch>
        </p:blipFill>
        <p:spPr>
          <a:xfrm>
            <a:off x="22291848" y="10972800"/>
            <a:ext cx="6026149" cy="2238284"/>
          </a:xfrm>
          <a:prstGeom prst="rect">
            <a:avLst/>
          </a:prstGeom>
        </p:spPr>
      </p:pic>
      <p:sp>
        <p:nvSpPr>
          <p:cNvPr id="30" name="TextBox 29">
            <a:extLst>
              <a:ext uri="{FF2B5EF4-FFF2-40B4-BE49-F238E27FC236}">
                <a16:creationId xmlns:a16="http://schemas.microsoft.com/office/drawing/2014/main" id="{83D8AB03-765E-4288-E847-DAD093B490B1}"/>
              </a:ext>
            </a:extLst>
          </p:cNvPr>
          <p:cNvSpPr txBox="1"/>
          <p:nvPr/>
        </p:nvSpPr>
        <p:spPr>
          <a:xfrm>
            <a:off x="22502864" y="13092517"/>
            <a:ext cx="5196324" cy="461665"/>
          </a:xfrm>
          <a:prstGeom prst="rect">
            <a:avLst/>
          </a:prstGeom>
          <a:noFill/>
        </p:spPr>
        <p:txBody>
          <a:bodyPr wrap="square" rtlCol="0">
            <a:spAutoFit/>
          </a:bodyPr>
          <a:lstStyle/>
          <a:p>
            <a:pPr algn="r"/>
            <a:r>
              <a:rPr lang="en-IN" sz="2400" b="1" dirty="0">
                <a:latin typeface="Times New Roman" panose="02020603050405020304" pitchFamily="18" charset="0"/>
                <a:cs typeface="Times New Roman" panose="02020603050405020304" pitchFamily="18" charset="0"/>
              </a:rPr>
              <a:t>Figure 2: Efficiency of the dataset</a:t>
            </a:r>
          </a:p>
        </p:txBody>
      </p:sp>
      <p:pic>
        <p:nvPicPr>
          <p:cNvPr id="49" name="Picture 48">
            <a:extLst>
              <a:ext uri="{FF2B5EF4-FFF2-40B4-BE49-F238E27FC236}">
                <a16:creationId xmlns:a16="http://schemas.microsoft.com/office/drawing/2014/main" id="{8359227C-C257-42CF-BC23-924EA2A2B1FA}"/>
              </a:ext>
            </a:extLst>
          </p:cNvPr>
          <p:cNvPicPr>
            <a:picLocks noChangeAspect="1"/>
          </p:cNvPicPr>
          <p:nvPr/>
        </p:nvPicPr>
        <p:blipFill>
          <a:blip r:embed="rId10"/>
          <a:stretch>
            <a:fillRect/>
          </a:stretch>
        </p:blipFill>
        <p:spPr>
          <a:xfrm>
            <a:off x="32897975" y="14015482"/>
            <a:ext cx="3767738" cy="2695252"/>
          </a:xfrm>
          <a:prstGeom prst="rect">
            <a:avLst/>
          </a:prstGeom>
        </p:spPr>
      </p:pic>
      <p:sp>
        <p:nvSpPr>
          <p:cNvPr id="51" name="TextBox 50">
            <a:extLst>
              <a:ext uri="{FF2B5EF4-FFF2-40B4-BE49-F238E27FC236}">
                <a16:creationId xmlns:a16="http://schemas.microsoft.com/office/drawing/2014/main" id="{DEDF0B12-5B4C-F709-CC03-6435BD09B876}"/>
              </a:ext>
            </a:extLst>
          </p:cNvPr>
          <p:cNvSpPr txBox="1"/>
          <p:nvPr/>
        </p:nvSpPr>
        <p:spPr>
          <a:xfrm>
            <a:off x="32859393" y="16838337"/>
            <a:ext cx="380632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Figure 2:Social Inclusion</a:t>
            </a:r>
          </a:p>
        </p:txBody>
      </p:sp>
    </p:spTree>
  </p:cSld>
  <p:clrMapOvr>
    <a:masterClrMapping/>
  </p:clrMapOvr>
</p:sld>
</file>

<file path=ppt/theme/theme1.xml><?xml version="1.0" encoding="utf-8"?>
<a:theme xmlns:a="http://schemas.openxmlformats.org/drawingml/2006/main" name="Default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636</TotalTime>
  <Words>823</Words>
  <Application>Microsoft Office PowerPoint</Application>
  <PresentationFormat>Custom</PresentationFormat>
  <Paragraphs>71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Times New Roman</vt:lpstr>
      <vt:lpstr>Times</vt:lpstr>
      <vt:lpstr>Roboto</vt:lpstr>
      <vt:lpstr>Arial</vt:lpstr>
      <vt:lpstr>Calibri</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 ram kumar</dc:creator>
  <cp:lastModifiedBy>Marthala Bhargavi</cp:lastModifiedBy>
  <cp:revision>9</cp:revision>
  <dcterms:modified xsi:type="dcterms:W3CDTF">2024-09-05T19:16:47Z</dcterms:modified>
</cp:coreProperties>
</file>