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3" r:id="rId4"/>
    <p:sldId id="299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B872C0-E585-48EF-A931-3FB9B2F3FFB5}" v="5" dt="2024-09-06T04:40:40.7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34532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9/6/2024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9/6/2024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9/6/2024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9/6/2024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9/6/2024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9/6/2024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13" Type="http://schemas.openxmlformats.org/officeDocument/2006/relationships/image" Target="../media/image7.png"/><Relationship Id="rId18" Type="http://schemas.openxmlformats.org/officeDocument/2006/relationships/image" Target="../media/image12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.png"/><Relationship Id="rId12" Type="http://schemas.microsoft.com/office/2007/relationships/hdphoto" Target="../media/hdphoto3.wdp"/><Relationship Id="rId17" Type="http://schemas.openxmlformats.org/officeDocument/2006/relationships/image" Target="../media/image11.svg"/><Relationship Id="rId2" Type="http://schemas.openxmlformats.org/officeDocument/2006/relationships/video" Target="../media/media1.mp4"/><Relationship Id="rId16" Type="http://schemas.openxmlformats.org/officeDocument/2006/relationships/image" Target="../media/image10.png"/><Relationship Id="rId20" Type="http://schemas.openxmlformats.org/officeDocument/2006/relationships/image" Target="../media/image13.png"/><Relationship Id="rId1" Type="http://schemas.microsoft.com/office/2007/relationships/media" Target="../media/media1.mp4"/><Relationship Id="rId6" Type="http://schemas.openxmlformats.org/officeDocument/2006/relationships/image" Target="../media/image3.png"/><Relationship Id="rId11" Type="http://schemas.openxmlformats.org/officeDocument/2006/relationships/image" Target="../media/image6.png"/><Relationship Id="rId5" Type="http://schemas.openxmlformats.org/officeDocument/2006/relationships/image" Target="../media/image2.png"/><Relationship Id="rId15" Type="http://schemas.openxmlformats.org/officeDocument/2006/relationships/image" Target="../media/image9.svg"/><Relationship Id="rId10" Type="http://schemas.microsoft.com/office/2007/relationships/hdphoto" Target="../media/hdphoto2.wdp"/><Relationship Id="rId19" Type="http://schemas.microsoft.com/office/2007/relationships/hdphoto" Target="../media/hdphoto4.wdp"/><Relationship Id="rId4" Type="http://schemas.openxmlformats.org/officeDocument/2006/relationships/notesSlide" Target="../notesSlides/notesSlide1.xml"/><Relationship Id="rId9" Type="http://schemas.openxmlformats.org/officeDocument/2006/relationships/image" Target="../media/image5.png"/><Relationship Id="rId1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2024</a:t>
            </a:r>
            <a:endParaRPr lang="en-IN" sz="4000" b="1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5" y="1289050"/>
            <a:ext cx="6429685" cy="5425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1716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Indian Sign Language Text/Speech translation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Miscellaneous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Team Name- 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Brainihacks</a:t>
            </a:r>
            <a:endParaRPr lang="en-IN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74006" y="0"/>
            <a:ext cx="2246575" cy="114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1800" b="1">
                <a:latin typeface="Times New Roman"/>
                <a:ea typeface="ＭＳ Ｐゴシック"/>
                <a:cs typeface="Times New Roman"/>
              </a:rPr>
              <a:t>SignScript: Advanced Translation System for Converting Sign Language and Text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FD737E7C-6E0E-4B08-9E9D-6130C95211A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1514" y="10706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endParaRPr lang="en-IN" sz="1200" dirty="0">
              <a:ea typeface="Calibri"/>
              <a:cs typeface="Calibri"/>
            </a:endParaRP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945424" y="26590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81F70D5B-C962-8C20-BF6D-F4C84856E9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B2FB1958-45EF-A1A9-6E73-34574AF953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399"/>
            <a:ext cx="11898086" cy="17652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F245269-4806-AFFF-D405-9C1699CCBB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7609" y="1376711"/>
            <a:ext cx="1246359" cy="124635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736B2B7-37A7-F8BA-B377-088941AE841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foregroundMark x1="30833" y1="42870" x2="30833" y2="42870"/>
                        <a14:foregroundMark x1="30833" y1="42870" x2="30833" y2="42870"/>
                        <a14:backgroundMark x1="59630" y1="12407" x2="59630" y2="12407"/>
                        <a14:backgroundMark x1="89722" y1="57315" x2="89722" y2="57315"/>
                        <a14:backgroundMark x1="60093" y1="66296" x2="60093" y2="6629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27619" y="1582136"/>
            <a:ext cx="3959435" cy="395943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9F5E850-5E47-5A0E-16D4-23568A1FDCC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>
                        <a14:foregroundMark x1="37500" y1="63796" x2="37500" y2="63796"/>
                        <a14:foregroundMark x1="45926" y1="60278" x2="45926" y2="60278"/>
                        <a14:foregroundMark x1="31111" y1="53426" x2="31111" y2="53426"/>
                        <a14:foregroundMark x1="34074" y1="55833" x2="34074" y2="55833"/>
                        <a14:foregroundMark x1="34074" y1="55833" x2="34074" y2="55833"/>
                        <a14:foregroundMark x1="34074" y1="55833" x2="34074" y2="55833"/>
                        <a14:foregroundMark x1="34074" y1="55833" x2="33611" y2="73148"/>
                        <a14:foregroundMark x1="33056" y1="50463" x2="28056" y2="74074"/>
                        <a14:foregroundMark x1="28056" y1="74074" x2="72407" y2="69444"/>
                        <a14:foregroundMark x1="72407" y1="69444" x2="70556" y2="25833"/>
                        <a14:foregroundMark x1="70556" y1="25833" x2="48611" y2="26204"/>
                        <a14:foregroundMark x1="48611" y1="26204" x2="31111" y2="33704"/>
                        <a14:foregroundMark x1="31111" y1="33704" x2="25185" y2="58148"/>
                        <a14:foregroundMark x1="25185" y1="58148" x2="27130" y2="7564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44284" y="783644"/>
            <a:ext cx="2577888" cy="25778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CB460D2-7B40-3050-ACE2-5C1F8F4A5EB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1481" l="10000" r="90000">
                        <a14:foregroundMark x1="29537" y1="38889" x2="29537" y2="38889"/>
                        <a14:foregroundMark x1="24630" y1="31944" x2="24630" y2="31944"/>
                        <a14:foregroundMark x1="21481" y1="30648" x2="21481" y2="30648"/>
                        <a14:foregroundMark x1="21481" y1="30648" x2="21481" y2="30648"/>
                        <a14:foregroundMark x1="41111" y1="42037" x2="41111" y2="42037"/>
                        <a14:foregroundMark x1="41111" y1="42037" x2="41111" y2="42037"/>
                        <a14:foregroundMark x1="41111" y1="42037" x2="41111" y2="42037"/>
                        <a14:foregroundMark x1="41111" y1="42037" x2="41111" y2="42037"/>
                        <a14:foregroundMark x1="41111" y1="42037" x2="41111" y2="42037"/>
                        <a14:foregroundMark x1="41111" y1="42037" x2="41111" y2="42037"/>
                        <a14:foregroundMark x1="41852" y1="42407" x2="41852" y2="42407"/>
                        <a14:foregroundMark x1="41852" y1="42407" x2="41852" y2="42407"/>
                        <a14:foregroundMark x1="34352" y1="36944" x2="34352" y2="36944"/>
                        <a14:foregroundMark x1="34352" y1="36944" x2="34352" y2="36944"/>
                        <a14:foregroundMark x1="28889" y1="50741" x2="28889" y2="50741"/>
                        <a14:foregroundMark x1="28889" y1="50741" x2="28889" y2="50741"/>
                        <a14:foregroundMark x1="24907" y1="79259" x2="24907" y2="79259"/>
                        <a14:foregroundMark x1="24907" y1="79259" x2="24907" y2="79259"/>
                        <a14:foregroundMark x1="35556" y1="76296" x2="35556" y2="76296"/>
                        <a14:foregroundMark x1="35556" y1="76296" x2="35556" y2="76296"/>
                        <a14:foregroundMark x1="35556" y1="76296" x2="35556" y2="76296"/>
                        <a14:foregroundMark x1="35556" y1="76296" x2="35556" y2="76296"/>
                        <a14:foregroundMark x1="39537" y1="72130" x2="39537" y2="72130"/>
                        <a14:foregroundMark x1="39537" y1="72130" x2="37222" y2="72500"/>
                        <a14:foregroundMark x1="30185" y1="46019" x2="30185" y2="46019"/>
                        <a14:foregroundMark x1="21481" y1="40185" x2="21481" y2="40185"/>
                        <a14:foregroundMark x1="38981" y1="42130" x2="38981" y2="42130"/>
                        <a14:foregroundMark x1="38981" y1="42130" x2="38981" y2="42130"/>
                        <a14:foregroundMark x1="38981" y1="42130" x2="38981" y2="42130"/>
                        <a14:foregroundMark x1="38981" y1="42130" x2="38981" y2="42130"/>
                        <a14:foregroundMark x1="37685" y1="41019" x2="38889" y2="48426"/>
                        <a14:foregroundMark x1="38889" y1="48426" x2="40648" y2="40648"/>
                        <a14:foregroundMark x1="40648" y1="40648" x2="39722" y2="39537"/>
                        <a14:foregroundMark x1="42130" y1="44444" x2="42130" y2="44444"/>
                        <a14:foregroundMark x1="28796" y1="33148" x2="28796" y2="33148"/>
                        <a14:foregroundMark x1="41667" y1="43611" x2="41667" y2="43611"/>
                        <a14:foregroundMark x1="41667" y1="43611" x2="41667" y2="43611"/>
                        <a14:foregroundMark x1="33611" y1="32500" x2="33611" y2="32500"/>
                        <a14:foregroundMark x1="42222" y1="41574" x2="42222" y2="41574"/>
                        <a14:foregroundMark x1="27037" y1="32685" x2="27037" y2="32685"/>
                        <a14:foregroundMark x1="26944" y1="46759" x2="26944" y2="46759"/>
                        <a14:foregroundMark x1="26944" y1="46759" x2="26944" y2="46759"/>
                        <a14:foregroundMark x1="27778" y1="49630" x2="27778" y2="49630"/>
                        <a14:foregroundMark x1="27778" y1="49630" x2="27778" y2="49630"/>
                        <a14:foregroundMark x1="27778" y1="49630" x2="27778" y2="49630"/>
                        <a14:foregroundMark x1="31389" y1="35278" x2="31389" y2="35278"/>
                        <a14:foregroundMark x1="31389" y1="35278" x2="31389" y2="35278"/>
                        <a14:foregroundMark x1="13704" y1="35000" x2="13704" y2="35000"/>
                        <a14:foregroundMark x1="13704" y1="35000" x2="13704" y2="35000"/>
                        <a14:foregroundMark x1="13704" y1="44444" x2="13704" y2="44444"/>
                        <a14:foregroundMark x1="13704" y1="44444" x2="13704" y2="44444"/>
                        <a14:foregroundMark x1="14630" y1="44722" x2="14630" y2="44722"/>
                        <a14:foregroundMark x1="14630" y1="44722" x2="14630" y2="44722"/>
                        <a14:foregroundMark x1="14630" y1="44722" x2="14630" y2="44722"/>
                        <a14:foregroundMark x1="20926" y1="53796" x2="20926" y2="53796"/>
                        <a14:foregroundMark x1="20926" y1="53796" x2="20926" y2="53796"/>
                        <a14:foregroundMark x1="20926" y1="53796" x2="20926" y2="53796"/>
                        <a14:foregroundMark x1="20926" y1="53796" x2="20926" y2="53796"/>
                        <a14:foregroundMark x1="26481" y1="51481" x2="26481" y2="51481"/>
                        <a14:foregroundMark x1="26481" y1="51481" x2="26481" y2="51481"/>
                        <a14:foregroundMark x1="26481" y1="51481" x2="26481" y2="51481"/>
                        <a14:foregroundMark x1="72963" y1="73148" x2="72963" y2="73148"/>
                        <a14:foregroundMark x1="72963" y1="73148" x2="72963" y2="73148"/>
                        <a14:foregroundMark x1="72963" y1="73148" x2="72963" y2="73148"/>
                        <a14:foregroundMark x1="72963" y1="73148" x2="72963" y2="73148"/>
                        <a14:foregroundMark x1="72963" y1="73148" x2="72963" y2="73148"/>
                        <a14:foregroundMark x1="65093" y1="73704" x2="65093" y2="73704"/>
                        <a14:foregroundMark x1="65093" y1="73704" x2="65093" y2="73704"/>
                        <a14:foregroundMark x1="65093" y1="73704" x2="65093" y2="73704"/>
                        <a14:foregroundMark x1="65093" y1="73704" x2="65093" y2="73704"/>
                        <a14:foregroundMark x1="65093" y1="73704" x2="65093" y2="73704"/>
                        <a14:foregroundMark x1="65093" y1="73704" x2="65093" y2="73704"/>
                        <a14:foregroundMark x1="65093" y1="73704" x2="65093" y2="73704"/>
                        <a14:foregroundMark x1="65093" y1="73704" x2="65093" y2="73704"/>
                        <a14:foregroundMark x1="77500" y1="72685" x2="77500" y2="72685"/>
                        <a14:foregroundMark x1="77500" y1="72685" x2="77500" y2="72685"/>
                        <a14:foregroundMark x1="72407" y1="72407" x2="72407" y2="72407"/>
                        <a14:foregroundMark x1="72407" y1="72407" x2="72407" y2="72407"/>
                        <a14:foregroundMark x1="72407" y1="72407" x2="72407" y2="72407"/>
                        <a14:foregroundMark x1="72407" y1="72407" x2="72407" y2="72407"/>
                        <a14:foregroundMark x1="72407" y1="72407" x2="72407" y2="72407"/>
                        <a14:foregroundMark x1="72407" y1="72407" x2="72407" y2="72407"/>
                        <a14:foregroundMark x1="72407" y1="72407" x2="72407" y2="72407"/>
                        <a14:foregroundMark x1="72407" y1="72407" x2="72407" y2="72407"/>
                        <a14:foregroundMark x1="62222" y1="67407" x2="62222" y2="67407"/>
                        <a14:foregroundMark x1="62222" y1="67407" x2="62222" y2="67407"/>
                        <a14:foregroundMark x1="65926" y1="76296" x2="65926" y2="76296"/>
                        <a14:foregroundMark x1="65926" y1="76296" x2="65926" y2="76296"/>
                        <a14:foregroundMark x1="65926" y1="76296" x2="65926" y2="76296"/>
                        <a14:foregroundMark x1="65926" y1="76296" x2="65926" y2="76296"/>
                        <a14:foregroundMark x1="65926" y1="76296" x2="65926" y2="76296"/>
                        <a14:foregroundMark x1="70833" y1="74815" x2="70833" y2="74815"/>
                        <a14:foregroundMark x1="70833" y1="74815" x2="70833" y2="74815"/>
                        <a14:foregroundMark x1="70833" y1="74815" x2="70833" y2="74815"/>
                        <a14:foregroundMark x1="61019" y1="77963" x2="61019" y2="77963"/>
                        <a14:foregroundMark x1="61019" y1="77963" x2="61019" y2="77963"/>
                        <a14:foregroundMark x1="61019" y1="77963" x2="61019" y2="77963"/>
                        <a14:foregroundMark x1="61019" y1="77963" x2="61019" y2="77963"/>
                        <a14:foregroundMark x1="61019" y1="77963" x2="61019" y2="77963"/>
                        <a14:foregroundMark x1="59630" y1="78148" x2="59630" y2="78148"/>
                        <a14:foregroundMark x1="62037" y1="77130" x2="62037" y2="77130"/>
                        <a14:foregroundMark x1="62037" y1="77130" x2="62037" y2="77130"/>
                        <a14:foregroundMark x1="62037" y1="77130" x2="62037" y2="77130"/>
                        <a14:foregroundMark x1="73519" y1="72407" x2="73519" y2="72407"/>
                        <a14:foregroundMark x1="73519" y1="72407" x2="73519" y2="72407"/>
                        <a14:foregroundMark x1="73519" y1="72407" x2="73519" y2="72407"/>
                        <a14:foregroundMark x1="75093" y1="80833" x2="75093" y2="80833"/>
                        <a14:foregroundMark x1="75093" y1="80833" x2="75093" y2="80833"/>
                        <a14:foregroundMark x1="75093" y1="80833" x2="75093" y2="80833"/>
                        <a14:foregroundMark x1="78981" y1="80278" x2="78981" y2="80278"/>
                        <a14:foregroundMark x1="78981" y1="80278" x2="78981" y2="80278"/>
                        <a14:foregroundMark x1="78981" y1="80278" x2="78981" y2="80278"/>
                        <a14:foregroundMark x1="80833" y1="85185" x2="80833" y2="85185"/>
                        <a14:foregroundMark x1="80833" y1="85185" x2="80833" y2="85185"/>
                        <a14:foregroundMark x1="80833" y1="85185" x2="80833" y2="85185"/>
                        <a14:foregroundMark x1="80833" y1="85185" x2="80833" y2="85185"/>
                        <a14:foregroundMark x1="80833" y1="85185" x2="80833" y2="85185"/>
                        <a14:foregroundMark x1="76204" y1="91481" x2="76204" y2="91481"/>
                        <a14:foregroundMark x1="76204" y1="91481" x2="76204" y2="91481"/>
                        <a14:foregroundMark x1="76204" y1="91481" x2="76204" y2="91481"/>
                        <a14:foregroundMark x1="76204" y1="91481" x2="76204" y2="91481"/>
                        <a14:foregroundMark x1="76204" y1="91481" x2="76204" y2="91481"/>
                        <a14:foregroundMark x1="56759" y1="70093" x2="56759" y2="70093"/>
                        <a14:foregroundMark x1="56759" y1="70093" x2="56759" y2="70093"/>
                        <a14:foregroundMark x1="56759" y1="70093" x2="56759" y2="7009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60890" y="694532"/>
            <a:ext cx="4267798" cy="426779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A4D2A98-FB40-5EEC-AFDE-2EB28E2DE0EE}"/>
              </a:ext>
            </a:extLst>
          </p:cNvPr>
          <p:cNvSpPr txBox="1"/>
          <p:nvPr/>
        </p:nvSpPr>
        <p:spPr>
          <a:xfrm>
            <a:off x="3852865" y="1143425"/>
            <a:ext cx="22683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  <a:t>You remain standing over there in confusion!?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CDFCE0-C0AD-FA4E-23F3-A91D51027B5B}"/>
              </a:ext>
            </a:extLst>
          </p:cNvPr>
          <p:cNvSpPr txBox="1"/>
          <p:nvPr/>
        </p:nvSpPr>
        <p:spPr>
          <a:xfrm>
            <a:off x="230130" y="1265926"/>
            <a:ext cx="20085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It can be either taught at the schooling level.</a:t>
            </a:r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7EF637-3BB0-A21D-B4C6-C74D198768FE}"/>
              </a:ext>
            </a:extLst>
          </p:cNvPr>
          <p:cNvSpPr txBox="1"/>
          <p:nvPr/>
        </p:nvSpPr>
        <p:spPr>
          <a:xfrm>
            <a:off x="2075024" y="2613070"/>
            <a:ext cx="22683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  <a:t>Or it needs to be browsed at the moment.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5105BE-9263-71CC-73B0-3162FA5F4EAE}"/>
              </a:ext>
            </a:extLst>
          </p:cNvPr>
          <p:cNvSpPr txBox="1"/>
          <p:nvPr/>
        </p:nvSpPr>
        <p:spPr>
          <a:xfrm>
            <a:off x="8737600" y="5010792"/>
            <a:ext cx="22683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  <a:t>Effective communication between individuals.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F4CEEC-A143-8F43-8A81-08D63865FBBE}"/>
              </a:ext>
            </a:extLst>
          </p:cNvPr>
          <p:cNvSpPr txBox="1"/>
          <p:nvPr/>
        </p:nvSpPr>
        <p:spPr>
          <a:xfrm>
            <a:off x="4907583" y="3864302"/>
            <a:ext cx="24743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SignScript is an open source website which provides translation of the sign language in the form of text/audio and vice-versa  using Deep Learning techniques.</a:t>
            </a:r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DC52F5D-0FD3-15C0-5DE7-6FFCD67113AA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36094" t="33612" r="51118" b="31447"/>
          <a:stretch/>
        </p:blipFill>
        <p:spPr>
          <a:xfrm>
            <a:off x="3779819" y="1376711"/>
            <a:ext cx="841582" cy="129347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6BE3E1F-461A-9413-D90C-1398A9E5D14B}"/>
              </a:ext>
            </a:extLst>
          </p:cNvPr>
          <p:cNvSpPr txBox="1"/>
          <p:nvPr/>
        </p:nvSpPr>
        <p:spPr>
          <a:xfrm>
            <a:off x="293913" y="4127800"/>
            <a:ext cx="2268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communication barrier between deaf individuals and those with typical hearing.</a:t>
            </a:r>
            <a:endParaRPr lang="en-IN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Graphic 24" descr="Line arrow: Clockwise curve with solid fill">
            <a:extLst>
              <a:ext uri="{FF2B5EF4-FFF2-40B4-BE49-F238E27FC236}">
                <a16:creationId xmlns:a16="http://schemas.microsoft.com/office/drawing/2014/main" id="{305EAD17-A854-65B1-2A51-DA765C2542E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3840000">
            <a:off x="748901" y="2010378"/>
            <a:ext cx="703141" cy="1022040"/>
          </a:xfrm>
          <a:prstGeom prst="rect">
            <a:avLst/>
          </a:prstGeom>
        </p:spPr>
      </p:pic>
      <p:pic>
        <p:nvPicPr>
          <p:cNvPr id="28" name="Graphic 27" descr="Line arrow: Clockwise curve with solid fill">
            <a:extLst>
              <a:ext uri="{FF2B5EF4-FFF2-40B4-BE49-F238E27FC236}">
                <a16:creationId xmlns:a16="http://schemas.microsoft.com/office/drawing/2014/main" id="{D4BBB5DF-E712-F870-4852-C82C003B584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16620000" flipV="1">
            <a:off x="934342" y="4474642"/>
            <a:ext cx="779094" cy="1132441"/>
          </a:xfrm>
          <a:prstGeom prst="rect">
            <a:avLst/>
          </a:prstGeom>
        </p:spPr>
      </p:pic>
      <p:pic>
        <p:nvPicPr>
          <p:cNvPr id="31" name="Graphic 30" descr="Line arrow: Straight with solid fill">
            <a:extLst>
              <a:ext uri="{FF2B5EF4-FFF2-40B4-BE49-F238E27FC236}">
                <a16:creationId xmlns:a16="http://schemas.microsoft.com/office/drawing/2014/main" id="{8FC976FA-9925-5B4D-E2B7-7B4E0BF90E3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flipH="1">
            <a:off x="7568279" y="2968436"/>
            <a:ext cx="504000" cy="504000"/>
          </a:xfrm>
          <a:prstGeom prst="rect">
            <a:avLst/>
          </a:prstGeom>
        </p:spPr>
      </p:pic>
      <p:pic>
        <p:nvPicPr>
          <p:cNvPr id="32" name="Graphic 31" descr="Line arrow: Clockwise curve with solid fill">
            <a:extLst>
              <a:ext uri="{FF2B5EF4-FFF2-40B4-BE49-F238E27FC236}">
                <a16:creationId xmlns:a16="http://schemas.microsoft.com/office/drawing/2014/main" id="{837A0758-5B6C-84E0-5FD0-28A7159B3D7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9240000">
            <a:off x="5231817" y="1396392"/>
            <a:ext cx="693484" cy="1008000"/>
          </a:xfrm>
          <a:prstGeom prst="rect">
            <a:avLst/>
          </a:prstGeom>
        </p:spPr>
      </p:pic>
      <p:pic>
        <p:nvPicPr>
          <p:cNvPr id="33" name="Graphic 32" descr="Line arrow: Clockwise curve with solid fill">
            <a:extLst>
              <a:ext uri="{FF2B5EF4-FFF2-40B4-BE49-F238E27FC236}">
                <a16:creationId xmlns:a16="http://schemas.microsoft.com/office/drawing/2014/main" id="{4F4F997C-923B-1D6C-DB2C-ADA23660E5D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12360000" flipV="1">
            <a:off x="5107046" y="4789644"/>
            <a:ext cx="972000" cy="972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18CDFF5-E7CF-13E4-D46D-410CED6AEB8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10000" b="90000" l="10000" r="90000">
                        <a14:foregroundMark x1="43021" y1="53426" x2="43021" y2="53426"/>
                        <a14:foregroundMark x1="44948" y1="46296" x2="44948" y2="46296"/>
                        <a14:foregroundMark x1="44740" y1="46296" x2="44740" y2="46296"/>
                        <a14:foregroundMark x1="44115" y1="45185" x2="46875" y2="45556"/>
                        <a14:foregroundMark x1="45156" y1="45926" x2="44531" y2="58704"/>
                        <a14:foregroundMark x1="44531" y1="60926" x2="47500" y2="60926"/>
                        <a14:foregroundMark x1="48750" y1="49630" x2="37708" y2="52407"/>
                        <a14:foregroundMark x1="37708" y1="52407" x2="50729" y2="56389"/>
                        <a14:foregroundMark x1="50729" y1="56389" x2="48958" y2="48148"/>
                        <a14:foregroundMark x1="59740" y1="55648" x2="57448" y2="57222"/>
                        <a14:foregroundMark x1="55937" y1="51204" x2="61667" y2="50000"/>
                        <a14:foregroundMark x1="54688" y1="50000" x2="61458" y2="51204"/>
                        <a14:foregroundMark x1="58281" y1="60185" x2="58906" y2="587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2400" y="3864302"/>
            <a:ext cx="6388572" cy="297432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FF7E754-D1F8-EA1B-DF25-136DB9007C0E}"/>
              </a:ext>
            </a:extLst>
          </p:cNvPr>
          <p:cNvSpPr txBox="1"/>
          <p:nvPr/>
        </p:nvSpPr>
        <p:spPr>
          <a:xfrm>
            <a:off x="2238711" y="5797357"/>
            <a:ext cx="22339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>
                <a:latin typeface="Times New Roman" panose="02020603050405020304" pitchFamily="18" charset="0"/>
                <a:cs typeface="Times New Roman" panose="02020603050405020304" pitchFamily="18" charset="0"/>
              </a:rPr>
              <a:t>Input is given as text/audio</a:t>
            </a:r>
          </a:p>
        </p:txBody>
      </p:sp>
      <p:pic>
        <p:nvPicPr>
          <p:cNvPr id="29" name="Colorful Animated SIgn Language Communication Presentation">
            <a:hlinkClick r:id="" action="ppaction://media"/>
            <a:extLst>
              <a:ext uri="{FF2B5EF4-FFF2-40B4-BE49-F238E27FC236}">
                <a16:creationId xmlns:a16="http://schemas.microsoft.com/office/drawing/2014/main" id="{D81BF43F-C92C-3E6F-5499-B14D38191DAB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20"/>
          <a:stretch>
            <a:fillRect/>
          </a:stretch>
        </p:blipFill>
        <p:spPr>
          <a:xfrm>
            <a:off x="4834735" y="2337121"/>
            <a:ext cx="2620048" cy="1473719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6D3ACD3-6F7D-E11E-9600-BA918AC8EEF1}"/>
              </a:ext>
            </a:extLst>
          </p:cNvPr>
          <p:cNvSpPr/>
          <p:nvPr/>
        </p:nvSpPr>
        <p:spPr>
          <a:xfrm>
            <a:off x="141514" y="298405"/>
            <a:ext cx="1251857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BrainHacks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34" fill="hold"/>
                                        <p:tgtEl>
                                          <p:spTgt spid="2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machine learning&#10;&#10;Description automatically generated">
            <a:extLst>
              <a:ext uri="{FF2B5EF4-FFF2-40B4-BE49-F238E27FC236}">
                <a16:creationId xmlns:a16="http://schemas.microsoft.com/office/drawing/2014/main" id="{E97986CA-23F9-9C86-3EA0-17653496EC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8246"/>
            <a:ext cx="12192000" cy="614229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881A248B-B7B3-4BA2-A166-FAE5E20BF81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22196" y="187748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endParaRPr lang="en-IN" sz="10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A34D80-4A39-0E77-FCF4-335F4C806E9B}"/>
              </a:ext>
            </a:extLst>
          </p:cNvPr>
          <p:cNvSpPr/>
          <p:nvPr/>
        </p:nvSpPr>
        <p:spPr>
          <a:xfrm>
            <a:off x="222196" y="406749"/>
            <a:ext cx="1251857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BrainHacks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881A248B-B7B3-4BA2-A166-FAE5E20BF81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22196" y="187748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endParaRPr lang="en-IN" sz="1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D62E98-4720-CC51-A9A1-E07DFF0DD97C}"/>
              </a:ext>
            </a:extLst>
          </p:cNvPr>
          <p:cNvSpPr txBox="1"/>
          <p:nvPr/>
        </p:nvSpPr>
        <p:spPr>
          <a:xfrm>
            <a:off x="1193809" y="1229527"/>
            <a:ext cx="5873804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</a:t>
            </a:r>
          </a:p>
          <a:p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TAKEAWAYS: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impact in social terms.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Supported by available technologies.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Manageable implementation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future enhancement, the expenditure will be a bit expensive.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C597457-CCFB-A2F2-8DC2-15C3499C16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4468" y="1229527"/>
            <a:ext cx="755820" cy="69283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67F0FF6-D90B-368C-A5CE-15D739311A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9736" y="1811779"/>
            <a:ext cx="2920975" cy="271999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49DAEE2-A8A8-9053-AEEF-438E693EFB23}"/>
              </a:ext>
            </a:extLst>
          </p:cNvPr>
          <p:cNvSpPr txBox="1"/>
          <p:nvPr/>
        </p:nvSpPr>
        <p:spPr>
          <a:xfrm>
            <a:off x="6096002" y="1235286"/>
            <a:ext cx="5929021" cy="55707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3200" b="1" dirty="0">
                <a:latin typeface="Times New Roman"/>
                <a:ea typeface="ＭＳ Ｐゴシック"/>
                <a:cs typeface="Times New Roman"/>
              </a:rPr>
              <a:t>CHALLENGES</a:t>
            </a:r>
          </a:p>
          <a:p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200" b="1" dirty="0">
              <a:latin typeface="Times New Roman"/>
              <a:ea typeface="ＭＳ Ｐゴシック"/>
              <a:cs typeface="Times New Roman"/>
            </a:endParaRPr>
          </a:p>
          <a:p>
            <a:r>
              <a:rPr lang="en-IN" sz="3200" b="1" dirty="0">
                <a:latin typeface="Times New Roman"/>
                <a:ea typeface="ＭＳ Ｐゴシック"/>
                <a:cs typeface="Times New Roman"/>
              </a:rPr>
              <a:t>STRATEGIES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786F9B46-7AA2-A1C1-E005-681A670F2EC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2641" t="5790" r="12460" b="8592"/>
          <a:stretch/>
        </p:blipFill>
        <p:spPr>
          <a:xfrm>
            <a:off x="8804373" y="3987351"/>
            <a:ext cx="3246113" cy="2323713"/>
          </a:xfrm>
          <a:prstGeom prst="rect">
            <a:avLst/>
          </a:prstGeom>
        </p:spPr>
      </p:pic>
      <p:pic>
        <p:nvPicPr>
          <p:cNvPr id="4" name="Picture 3" descr="A diagram of different people&#10;&#10;Description automatically generated">
            <a:extLst>
              <a:ext uri="{FF2B5EF4-FFF2-40B4-BE49-F238E27FC236}">
                <a16:creationId xmlns:a16="http://schemas.microsoft.com/office/drawing/2014/main" id="{C34E4949-E7E7-DCDF-7F30-F0E8E8CBD66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5045" t="6870" r="7192" b="5178"/>
          <a:stretch/>
        </p:blipFill>
        <p:spPr>
          <a:xfrm>
            <a:off x="6965906" y="1811779"/>
            <a:ext cx="3543387" cy="213187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868EFAB-FDF9-3886-AC2B-929B7035B7AA}"/>
              </a:ext>
            </a:extLst>
          </p:cNvPr>
          <p:cNvSpPr/>
          <p:nvPr/>
        </p:nvSpPr>
        <p:spPr>
          <a:xfrm>
            <a:off x="222196" y="382386"/>
            <a:ext cx="1251857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BrainHacks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8334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80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39FAE393-4007-4055-AB9B-4973C11E179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93914" y="25946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endParaRPr lang="en-US" sz="1000" dirty="0">
              <a:ea typeface="Calibri"/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A8B773-610C-B38B-5539-660A760C851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622" t="21219" r="26805" b="21577"/>
          <a:stretch/>
        </p:blipFill>
        <p:spPr>
          <a:xfrm>
            <a:off x="1791271" y="1066800"/>
            <a:ext cx="8917857" cy="50977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D0ADEEC-DA33-E6B7-F8ED-E867DE49C0FB}"/>
              </a:ext>
            </a:extLst>
          </p:cNvPr>
          <p:cNvSpPr/>
          <p:nvPr/>
        </p:nvSpPr>
        <p:spPr>
          <a:xfrm>
            <a:off x="293913" y="478467"/>
            <a:ext cx="1251857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BrainHacks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E449DA-7889-0D62-25AC-0BEE861BAB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95375"/>
            <a:ext cx="10972800" cy="5230812"/>
          </a:xfrm>
        </p:spPr>
        <p:txBody>
          <a:bodyPr/>
          <a:lstStyle/>
          <a:p>
            <a:r>
              <a:rPr lang="en-IN" sz="1800">
                <a:latin typeface="Times New Roman"/>
                <a:ea typeface="ＭＳ Ｐゴシック"/>
                <a:cs typeface="Times New Roman"/>
              </a:rPr>
              <a:t>Sign Language Recognition: A deep survey by R. </a:t>
            </a:r>
            <a:r>
              <a:rPr lang="en-IN" sz="1800" err="1">
                <a:latin typeface="Times New Roman"/>
                <a:ea typeface="ＭＳ Ｐゴシック"/>
                <a:cs typeface="Times New Roman"/>
              </a:rPr>
              <a:t>Rastgoo,K</a:t>
            </a:r>
            <a:r>
              <a:rPr lang="en-IN" sz="1800">
                <a:latin typeface="Times New Roman"/>
                <a:ea typeface="ＭＳ Ｐゴシック"/>
                <a:cs typeface="Times New Roman"/>
              </a:rPr>
              <a:t> Kiani, S. Escalera-Expert Systems with Applications,2021-Elsevire</a:t>
            </a:r>
          </a:p>
          <a:p>
            <a:r>
              <a:rPr lang="en-IN" sz="1800">
                <a:latin typeface="Times New Roman"/>
                <a:ea typeface="ＭＳ Ｐゴシック"/>
                <a:cs typeface="Times New Roman"/>
              </a:rPr>
              <a:t>Sign language transformers: Joint end-to-end sign language recognition and translation by NC Camgoz, O Keller, S Hadfield-2020</a:t>
            </a:r>
          </a:p>
          <a:p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Skeleton aware multi-modal sign language recognition by S </a:t>
            </a:r>
            <a:r>
              <a:rPr lang="en-IN" sz="1800" err="1">
                <a:latin typeface="Times New Roman" panose="02020603050405020304" pitchFamily="18" charset="0"/>
                <a:cs typeface="Times New Roman" panose="02020603050405020304" pitchFamily="18" charset="0"/>
              </a:rPr>
              <a:t>Jiang,B</a:t>
            </a:r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 sun, L Wang-2021</a:t>
            </a:r>
          </a:p>
          <a:p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A large scale dataset for Indian sign language recognition by A Sridhar, RG Ganesan, P Kumar-2020</a:t>
            </a:r>
          </a:p>
          <a:p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Indian Sign Language Recognition system for dynamic signs by A Singh, A Wadhawan, M Rakhra-2022</a:t>
            </a:r>
          </a:p>
          <a:p>
            <a:r>
              <a:rPr lang="en-IN" sz="1800">
                <a:latin typeface="Times New Roman"/>
                <a:ea typeface="ＭＳ Ｐゴシック"/>
                <a:cs typeface="Times New Roman"/>
              </a:rPr>
              <a:t>A deep sign language recognition system for Indian sign language by S Das, SK Biwas, B Purkayastha-Neural Computing and Applications,2023-Springer</a:t>
            </a:r>
          </a:p>
          <a:p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A comparative analysis of Indian sign language recognition using deep learning models by B </a:t>
            </a:r>
            <a:r>
              <a:rPr lang="en-IN" sz="1800" err="1">
                <a:latin typeface="Times New Roman" panose="02020603050405020304" pitchFamily="18" charset="0"/>
                <a:cs typeface="Times New Roman" panose="02020603050405020304" pitchFamily="18" charset="0"/>
              </a:rPr>
              <a:t>Saini,D</a:t>
            </a:r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 Venkatesh, N Chaudhari- Linguistic Studies-2023</a:t>
            </a:r>
          </a:p>
          <a:p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Sign language recognition using convolutional neural networks by P </a:t>
            </a:r>
            <a:r>
              <a:rPr lang="en-IN" sz="1800" err="1">
                <a:latin typeface="Times New Roman" panose="02020603050405020304" pitchFamily="18" charset="0"/>
                <a:cs typeface="Times New Roman" panose="02020603050405020304" pitchFamily="18" charset="0"/>
              </a:rPr>
              <a:t>Uyyala</a:t>
            </a:r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-Journal of interdisciplinary cycle research-2022</a:t>
            </a:r>
          </a:p>
          <a:p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Hear sign language: A real-time end-to-end sign language recognition system by K Zhao, K Zhang, Y Zhai, D Wang-2021</a:t>
            </a:r>
          </a:p>
          <a:p>
            <a:r>
              <a:rPr lang="en-IN" sz="1800">
                <a:latin typeface="Times New Roman" panose="02020603050405020304" pitchFamily="18" charset="0"/>
                <a:cs typeface="Times New Roman" panose="02020603050405020304" pitchFamily="18" charset="0"/>
              </a:rPr>
              <a:t>Scalable frame resolution for efficient continuous sign language recognition by L Hu, L Gao, Z Liu, W Feng-Pattern Recognition,2024- Elsevier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8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03911" y="81376"/>
            <a:ext cx="2246575" cy="114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7122456D-0AB0-4DA2-9020-387E1666931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93914" y="25946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endParaRPr lang="en-US" sz="1000" dirty="0">
              <a:ea typeface="Calibri"/>
              <a:cs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5D7ADAC-10C8-C2B8-623F-FFF8F2B46252}"/>
              </a:ext>
            </a:extLst>
          </p:cNvPr>
          <p:cNvSpPr/>
          <p:nvPr/>
        </p:nvSpPr>
        <p:spPr>
          <a:xfrm>
            <a:off x="293914" y="471247"/>
            <a:ext cx="1251857" cy="3693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BrainHacks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406</Words>
  <Application>Microsoft Office PowerPoint</Application>
  <PresentationFormat>Widescreen</PresentationFormat>
  <Paragraphs>75</Paragraphs>
  <Slides>6</Slides>
  <Notes>5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2024</vt:lpstr>
      <vt:lpstr>SignScript: Advanced Translation System for Converting Sign Language and Text 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HEMA LATHA ALAPATI</cp:lastModifiedBy>
  <cp:revision>4</cp:revision>
  <dcterms:created xsi:type="dcterms:W3CDTF">2013-12-12T18:46:50Z</dcterms:created>
  <dcterms:modified xsi:type="dcterms:W3CDTF">2024-09-06T04:45:49Z</dcterms:modified>
  <cp:category/>
</cp:coreProperties>
</file>